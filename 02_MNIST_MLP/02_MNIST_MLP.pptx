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85" r:id="rId4"/>
    <p:sldId id="290" r:id="rId5"/>
    <p:sldId id="291" r:id="rId6"/>
    <p:sldId id="294" r:id="rId7"/>
    <p:sldId id="293" r:id="rId8"/>
    <p:sldId id="295" r:id="rId9"/>
    <p:sldId id="296" r:id="rId10"/>
    <p:sldId id="297" r:id="rId11"/>
    <p:sldId id="292" r:id="rId12"/>
    <p:sldId id="300" r:id="rId13"/>
    <p:sldId id="283" r:id="rId14"/>
    <p:sldId id="301" r:id="rId15"/>
    <p:sldId id="302" r:id="rId16"/>
    <p:sldId id="303" r:id="rId17"/>
    <p:sldId id="275" r:id="rId18"/>
  </p:sldIdLst>
  <p:sldSz cx="18288000" cy="10287000"/>
  <p:notesSz cx="18288000" cy="10287000"/>
  <p:embeddedFontLst>
    <p:embeddedFont>
      <p:font typeface="210 맨발의청춘 B" panose="02020603020101020101" pitchFamily="18" charset="-127"/>
      <p:regular r:id="rId20"/>
    </p:embeddedFont>
    <p:embeddedFont>
      <p:font typeface="210 맨발의청춘 L" panose="02020603020101020101" pitchFamily="18" charset="-127"/>
      <p:regular r:id="rId21"/>
    </p:embeddedFont>
    <p:embeddedFont>
      <p:font typeface="210 맨발의청춘 R" panose="02020603020101020101" pitchFamily="18" charset="-127"/>
      <p:regular r:id="rId22"/>
    </p:embeddedFont>
    <p:embeddedFont>
      <p:font typeface="Cambria Math" panose="02040503050406030204" pitchFamily="18" charset="0"/>
      <p:regular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EBE7D8"/>
    <a:srgbClr val="FF5050"/>
    <a:srgbClr val="FF7C80"/>
    <a:srgbClr val="1D1C29"/>
    <a:srgbClr val="EBE8D8"/>
    <a:srgbClr val="253532"/>
    <a:srgbClr val="3D4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7" autoAdjust="0"/>
    <p:restoredTop sz="94660"/>
  </p:normalViewPr>
  <p:slideViewPr>
    <p:cSldViewPr>
      <p:cViewPr varScale="1">
        <p:scale>
          <a:sx n="70" d="100"/>
          <a:sy n="70" d="100"/>
        </p:scale>
        <p:origin x="2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3942-633E-49E1-BA04-F02517BD57C2}" type="datetimeFigureOut">
              <a:rPr lang="ko-KR" altLang="en-US" smtClean="0"/>
              <a:t>2025-12-28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2646-40CE-4580-93B3-C046C6404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6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5F24-C49A-E496-F18B-DC780DDB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24A829-B4EC-E272-4EC3-DC0376284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437E61-0A87-124D-3976-84D65B21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8BD58F-C158-72D2-34E1-DFDE2AAD4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321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C7B7-15A2-33C4-9F95-F7C4A158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0FE0E8-4EC5-92B0-C338-F72882B6F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7A1810-4146-245B-751B-B6CC704FF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C58E4-BB45-CA60-C81E-13211FE4B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429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31D2-2EC6-2BEE-FC25-7F5DE404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344403-8B0A-7287-FB70-74B0C8A98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8E8A27-43DB-BCB3-193E-887DFF0C8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E08948-B03C-FBEA-0511-57162CEFE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389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191A-E432-D3E9-B6FA-9DDD3233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21B929-A7EB-2EF2-7F89-D9349C12B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3E5DAB-5ED5-5FF9-B7AE-FD23210C6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6EB932-5A08-682F-A09A-3BCD9D00F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000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6F58-F0D7-16B5-598B-E055C84B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5239A6-8F95-876C-122A-A6D9B2F7B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A2C52B-C2B7-EA72-020D-2D40BB5D4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517B1-2E95-940E-CD9F-0EB2467F6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702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70C6-AA02-0498-D193-36D9D649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AA0CC1-3C44-2ED8-52F2-D0B22939D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C792F5-37A3-5634-4BE2-17EF6FBA3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9750B9-991E-3A5D-EC3C-E2ACD826E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775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F035-88D7-E7A6-C14D-F5FCF3C4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F5452D-343E-4D97-E4D7-F3109E28F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97462B-9A59-5734-5758-ACD0DD330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ED809-F35D-9B10-D893-22F0F0168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684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EB9D-0A57-ED11-EEC9-0533DD33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42B205-2BF1-4DFE-314D-58470A963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C6D18C-41B1-B603-EEEC-8646E4BA2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A00D4-38B0-535C-8A46-38742E59B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44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7C594-2A41-8352-7CB1-861864E1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D2ABAB-FE19-C86A-B5C7-37E1644FC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AD562A-A0E5-0FAD-603F-379FB876D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D4DEA-F7A8-0075-CA35-7F4840816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47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4B45-4DC3-02EF-4835-8EB4971C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B25F2D-9DD3-8F6E-0737-CDC580EB8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77D90-BB8E-C285-8E37-D382CDA3C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3A566-794E-0179-B3F9-7F6F56636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41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622490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  <a:latin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BE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22493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0" i="0">
                <a:solidFill>
                  <a:srgbClr val="253432"/>
                </a:solidFill>
                <a:latin typeface="Bandal"/>
                <a:cs typeface="Band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210 맨발의청춘 B" panose="02020603020101020101" pitchFamily="18" charset="-127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485900"/>
            <a:ext cx="13843000" cy="55531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15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MNIST</a:t>
            </a:r>
            <a:r>
              <a:rPr lang="ko-KR" altLang="en-US" sz="15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와</a:t>
            </a:r>
            <a:endParaRPr lang="en-US" altLang="ko-KR" sz="15000" dirty="0">
              <a:solidFill>
                <a:srgbClr val="253532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2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sz="15000" dirty="0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MLP</a:t>
            </a:r>
            <a:endParaRPr sz="15000" dirty="0">
              <a:solidFill>
                <a:srgbClr val="FF5050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8191500"/>
            <a:ext cx="15773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4500" spc="5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3805 </a:t>
            </a:r>
            <a:r>
              <a:rPr lang="ko-KR" altLang="en-US" sz="4500" spc="50" dirty="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남현석</a:t>
            </a:r>
            <a:endParaRPr sz="45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  <a:cs typeface="Noto Sans CJK JP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77BA-980E-0F95-E566-34828BE4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8DD2B81-CF25-C537-F382-8FA1CEA69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0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이론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8EFD3-EB6E-D474-A278-6E90FED9A1F8}"/>
              </a:ext>
            </a:extLst>
          </p:cNvPr>
          <p:cNvSpPr txBox="1"/>
          <p:nvPr/>
        </p:nvSpPr>
        <p:spPr>
          <a:xfrm>
            <a:off x="8478593" y="9105900"/>
            <a:ext cx="1330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MLP</a:t>
            </a:r>
          </a:p>
        </p:txBody>
      </p:sp>
      <p:pic>
        <p:nvPicPr>
          <p:cNvPr id="1026" name="Picture 2" descr="딥러닝] 심층학습 시작 : 인공 신경망과 MLP (+ 신경망 모델 만들어보기)">
            <a:extLst>
              <a:ext uri="{FF2B5EF4-FFF2-40B4-BE49-F238E27FC236}">
                <a16:creationId xmlns:a16="http://schemas.microsoft.com/office/drawing/2014/main" id="{098694F1-605F-4366-CF91-86D46B29B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878" y="3009900"/>
            <a:ext cx="8590244" cy="547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7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5707-2F86-838D-F249-FBD9AAE6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D05E76C-DAE2-8877-2A9D-078C55ECA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3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인공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신경망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기본 구조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0DA05-855E-B17E-3EA7-BBE1AAAEAAD8}"/>
              </a:ext>
            </a:extLst>
          </p:cNvPr>
          <p:cNvSpPr txBox="1"/>
          <p:nvPr/>
        </p:nvSpPr>
        <p:spPr>
          <a:xfrm>
            <a:off x="1402692" y="8115300"/>
            <a:ext cx="1567929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다층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퍼셉트론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(Multi-layer Perceptron, MLP)</a:t>
            </a:r>
          </a:p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(If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은닉층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 이상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 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심층신경망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(Deep Neural Network, DNN))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601A981-93EA-F9BE-32F3-05F20DA3A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71700"/>
            <a:ext cx="7581900" cy="570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FE323B-2F2D-D2EE-2ACB-B63622BC3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2052637"/>
            <a:ext cx="825985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5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6F35-75D2-9334-B762-3F682EDC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98311BE-4339-E691-A4B0-02BCC4E6F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3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인공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신경망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기본 구조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17FC1C-2E80-7BC5-AC84-30B0EA4AE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05100"/>
            <a:ext cx="8259856" cy="59436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52CC937-CD88-168E-ACEC-745F64FE553D}"/>
              </a:ext>
            </a:extLst>
          </p:cNvPr>
          <p:cNvSpPr/>
          <p:nvPr/>
        </p:nvSpPr>
        <p:spPr>
          <a:xfrm>
            <a:off x="4396628" y="2476500"/>
            <a:ext cx="1752600" cy="6400800"/>
          </a:xfrm>
          <a:prstGeom prst="rect">
            <a:avLst/>
          </a:prstGeom>
          <a:noFill/>
          <a:ln w="76200">
            <a:solidFill>
              <a:srgbClr val="3D47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D5AE3E-FF2A-AAA4-4977-0058253FE488}"/>
                  </a:ext>
                </a:extLst>
              </p:cNvPr>
              <p:cNvSpPr txBox="1"/>
              <p:nvPr/>
            </p:nvSpPr>
            <p:spPr>
              <a:xfrm>
                <a:off x="9296400" y="2933700"/>
                <a:ext cx="6195350" cy="718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sz="400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(= [</m:t>
                      </m:r>
                      <m:sSubSup>
                        <m:sSubSup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400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p>
                      </m:sSubSup>
                      <m:r>
                        <a:rPr lang="en-US" altLang="ko-KR" sz="400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400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2</m:t>
                          </m:r>
                        </m:sup>
                      </m:sSubSup>
                      <m:r>
                        <a:rPr lang="en-US" altLang="ko-KR" sz="4000" i="1" dirty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4000" i="1" dirty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4000" i="1" dirty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3</m:t>
                          </m:r>
                        </m:sup>
                      </m:sSubSup>
                      <m:r>
                        <a:rPr lang="en-US" altLang="ko-KR" sz="400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4</m:t>
                          </m:r>
                        </m:sup>
                      </m:sSubSup>
                      <m:r>
                        <a:rPr lang="en-US" altLang="ko-KR" sz="400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]), </m:t>
                      </m:r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D5AE3E-FF2A-AAA4-4977-0058253FE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0" y="2933700"/>
                <a:ext cx="6195350" cy="7180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E1CE2B0-3526-062E-9A9F-A1D82C9B2CE5}"/>
              </a:ext>
            </a:extLst>
          </p:cNvPr>
          <p:cNvCxnSpPr>
            <a:cxnSpLocks/>
          </p:cNvCxnSpPr>
          <p:nvPr/>
        </p:nvCxnSpPr>
        <p:spPr>
          <a:xfrm>
            <a:off x="5638800" y="3314700"/>
            <a:ext cx="3581400" cy="0"/>
          </a:xfrm>
          <a:prstGeom prst="straightConnector1">
            <a:avLst/>
          </a:prstGeom>
          <a:ln w="76200">
            <a:solidFill>
              <a:srgbClr val="253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152D32-40F0-7DA1-0B47-F2E7EB9D10C8}"/>
                  </a:ext>
                </a:extLst>
              </p:cNvPr>
              <p:cNvSpPr txBox="1"/>
              <p:nvPr/>
            </p:nvSpPr>
            <p:spPr>
              <a:xfrm>
                <a:off x="2440126" y="2857500"/>
                <a:ext cx="79021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152D32-40F0-7DA1-0B47-F2E7EB9D1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126" y="2857500"/>
                <a:ext cx="79021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E947B9-5B21-4735-70F8-337C9A537DA0}"/>
                  </a:ext>
                </a:extLst>
              </p:cNvPr>
              <p:cNvSpPr txBox="1"/>
              <p:nvPr/>
            </p:nvSpPr>
            <p:spPr>
              <a:xfrm>
                <a:off x="2451780" y="4227944"/>
                <a:ext cx="8020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E947B9-5B21-4735-70F8-337C9A53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780" y="4227944"/>
                <a:ext cx="802078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FA3705-94A5-B08C-6E70-B15C24B7CF9E}"/>
                  </a:ext>
                </a:extLst>
              </p:cNvPr>
              <p:cNvSpPr txBox="1"/>
              <p:nvPr/>
            </p:nvSpPr>
            <p:spPr>
              <a:xfrm>
                <a:off x="2463434" y="5598388"/>
                <a:ext cx="8020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7FA3705-94A5-B08C-6E70-B15C24B7C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434" y="5598388"/>
                <a:ext cx="802078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04A7E-7C67-C865-1C33-05F66900BF3B}"/>
                  </a:ext>
                </a:extLst>
              </p:cNvPr>
              <p:cNvSpPr txBox="1"/>
              <p:nvPr/>
            </p:nvSpPr>
            <p:spPr>
              <a:xfrm>
                <a:off x="2475088" y="6968832"/>
                <a:ext cx="8020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704A7E-7C67-C865-1C33-05F66900B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088" y="6968832"/>
                <a:ext cx="802078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F8AE0-BAF1-CAA3-92C1-710BD08104A9}"/>
                  </a:ext>
                </a:extLst>
              </p:cNvPr>
              <p:cNvSpPr txBox="1"/>
              <p:nvPr/>
            </p:nvSpPr>
            <p:spPr>
              <a:xfrm>
                <a:off x="9830284" y="5144416"/>
                <a:ext cx="44198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⇒</m:t>
                      </m:r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=</m:t>
                          </m:r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𝑊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BF8AE0-BAF1-CAA3-92C1-710BD081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284" y="5144416"/>
                <a:ext cx="44198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9BE004-747A-ED19-C21B-BD22EC0F59F6}"/>
                  </a:ext>
                </a:extLst>
              </p:cNvPr>
              <p:cNvSpPr txBox="1"/>
              <p:nvPr/>
            </p:nvSpPr>
            <p:spPr>
              <a:xfrm>
                <a:off x="1295400" y="9029700"/>
                <a:ext cx="44788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𝑥</m:t>
                      </m:r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(=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4000" b="0" i="1" dirty="0" smtClean="0">
                                  <a:solidFill>
                                    <a:srgbClr val="253532"/>
                                  </a:solidFill>
                                  <a:latin typeface="Cambria Math" panose="02040503050406030204" pitchFamily="18" charset="0"/>
                                  <a:ea typeface="210 맨발의청춘 L" panose="02020603020101020101" pitchFamily="18" charset="-127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9BE004-747A-ED19-C21B-BD22EC0F5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9029700"/>
                <a:ext cx="4478855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606926-3BEE-2098-7144-295C1AD5F128}"/>
                  </a:ext>
                </a:extLst>
              </p:cNvPr>
              <p:cNvSpPr txBox="1"/>
              <p:nvPr/>
            </p:nvSpPr>
            <p:spPr>
              <a:xfrm>
                <a:off x="9683994" y="7433697"/>
                <a:ext cx="37021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𝑛𝑒𝑤</m:t>
                      </m:r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 </m:t>
                      </m:r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sz="4000" b="0" i="1" dirty="0" smtClean="0">
                          <a:solidFill>
                            <a:srgbClr val="253532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=</m:t>
                      </m:r>
                      <m:r>
                        <a:rPr lang="en-US" altLang="ko-KR" sz="4000" b="0" i="1" dirty="0" smtClean="0">
                          <a:solidFill>
                            <a:srgbClr val="FF5050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𝑓</m:t>
                      </m:r>
                      <m:r>
                        <a:rPr lang="en-US" altLang="ko-KR" sz="4000" b="0" i="1" dirty="0" smtClean="0">
                          <a:solidFill>
                            <a:srgbClr val="FF5050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(</m:t>
                      </m:r>
                      <m:sSub>
                        <m:sSubPr>
                          <m:ctrlP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4000" b="0" i="1" dirty="0" smtClean="0">
                              <a:solidFill>
                                <a:srgbClr val="253532"/>
                              </a:solidFill>
                              <a:latin typeface="Cambria Math" panose="02040503050406030204" pitchFamily="18" charset="0"/>
                              <a:ea typeface="210 맨발의청춘 L" panose="02020603020101020101" pitchFamily="18" charset="-127"/>
                            </a:rPr>
                            <m:t>1</m:t>
                          </m:r>
                        </m:sub>
                      </m:sSub>
                      <m:r>
                        <a:rPr lang="en-US" altLang="ko-KR" sz="4000" b="0" i="1" dirty="0" smtClean="0">
                          <a:solidFill>
                            <a:srgbClr val="FF5050"/>
                          </a:solidFill>
                          <a:latin typeface="Cambria Math" panose="02040503050406030204" pitchFamily="18" charset="0"/>
                          <a:ea typeface="210 맨발의청춘 L" panose="02020603020101020101" pitchFamily="18" charset="-127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606926-3BEE-2098-7144-295C1AD5F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994" y="7433697"/>
                <a:ext cx="3702167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58F72C6-3B6E-2865-22A5-3BBE8890B883}"/>
              </a:ext>
            </a:extLst>
          </p:cNvPr>
          <p:cNvSpPr txBox="1"/>
          <p:nvPr/>
        </p:nvSpPr>
        <p:spPr>
          <a:xfrm>
            <a:off x="10569142" y="6075982"/>
            <a:ext cx="61558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weighted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sum(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가중합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799F4-FB15-18E7-E7F5-12C15A8AF8C1}"/>
              </a:ext>
            </a:extLst>
          </p:cNvPr>
          <p:cNvSpPr txBox="1"/>
          <p:nvPr/>
        </p:nvSpPr>
        <p:spPr>
          <a:xfrm>
            <a:off x="9353550" y="3844876"/>
            <a:ext cx="4279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Weight(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가중치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3C654-C2AE-1B61-363E-284E2FFF05B9}"/>
              </a:ext>
            </a:extLst>
          </p:cNvPr>
          <p:cNvSpPr txBox="1"/>
          <p:nvPr/>
        </p:nvSpPr>
        <p:spPr>
          <a:xfrm>
            <a:off x="14478000" y="3802020"/>
            <a:ext cx="34083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bias(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편향값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35623-2F32-4FE4-9824-CEFA7695BE6E}"/>
              </a:ext>
            </a:extLst>
          </p:cNvPr>
          <p:cNvSpPr txBox="1"/>
          <p:nvPr/>
        </p:nvSpPr>
        <p:spPr>
          <a:xfrm>
            <a:off x="9738632" y="8523421"/>
            <a:ext cx="8305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Activation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Fuction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활성화 함수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828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AAAC-047C-E461-47BE-6EB080D4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ADE905D-CBD5-0B4A-1088-CDB8D93C2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0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이론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6959E-79E7-0E0F-15DC-A42F7F238E4C}"/>
              </a:ext>
            </a:extLst>
          </p:cNvPr>
          <p:cNvSpPr txBox="1"/>
          <p:nvPr/>
        </p:nvSpPr>
        <p:spPr>
          <a:xfrm>
            <a:off x="8478593" y="9105900"/>
            <a:ext cx="1978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MNIST</a:t>
            </a:r>
          </a:p>
        </p:txBody>
      </p:sp>
      <p:pic>
        <p:nvPicPr>
          <p:cNvPr id="2050" name="Picture 2" descr="MNIST 데이터베이스 - 위키백과, 우리 모두의 백과사전">
            <a:extLst>
              <a:ext uri="{FF2B5EF4-FFF2-40B4-BE49-F238E27FC236}">
                <a16:creationId xmlns:a16="http://schemas.microsoft.com/office/drawing/2014/main" id="{C39CCC04-38FC-6DBE-9805-BCE19372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06" y="2781300"/>
            <a:ext cx="9220200" cy="541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01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548-C3C7-6C80-AD5F-0AAFA9EF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906FB28-2F06-77EF-202D-EBB0D64FB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0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이론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6983A-DCEE-DA2A-A734-93EA6D9FFE70}"/>
              </a:ext>
            </a:extLst>
          </p:cNvPr>
          <p:cNvSpPr txBox="1"/>
          <p:nvPr/>
        </p:nvSpPr>
        <p:spPr>
          <a:xfrm>
            <a:off x="8478593" y="9105900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목표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C1DCAF5-E6FB-E341-1DAE-2E49B410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072" y="2573465"/>
            <a:ext cx="8259856" cy="594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FE890C-5C63-FF19-202A-A43838F370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55" b="49734"/>
          <a:stretch>
            <a:fillRect/>
          </a:stretch>
        </p:blipFill>
        <p:spPr bwMode="auto">
          <a:xfrm>
            <a:off x="1295400" y="3619500"/>
            <a:ext cx="2845468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F1CFDC-3F3D-D14D-21AF-2DD6763F72B9}"/>
              </a:ext>
            </a:extLst>
          </p:cNvPr>
          <p:cNvSpPr txBox="1"/>
          <p:nvPr/>
        </p:nvSpPr>
        <p:spPr>
          <a:xfrm>
            <a:off x="14325600" y="3619500"/>
            <a:ext cx="161133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0: ~~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1: ~~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2: ~~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…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9: ~~</a:t>
            </a:r>
          </a:p>
        </p:txBody>
      </p:sp>
    </p:spTree>
    <p:extLst>
      <p:ext uri="{BB962C8B-B14F-4D97-AF65-F5344CB8AC3E}">
        <p14:creationId xmlns:p14="http://schemas.microsoft.com/office/powerpoint/2010/main" val="216554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C8445-675E-341B-FF7C-0FF5CAD0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3D6A376-C0C4-54E4-E65E-5123896B4A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0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이론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00A99-7E10-0032-C8D1-2045A4038343}"/>
              </a:ext>
            </a:extLst>
          </p:cNvPr>
          <p:cNvSpPr txBox="1"/>
          <p:nvPr/>
        </p:nvSpPr>
        <p:spPr>
          <a:xfrm>
            <a:off x="8478593" y="9105900"/>
            <a:ext cx="1978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MNIST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6934058-367D-E449-1766-BABF9586F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55" b="49734"/>
          <a:stretch>
            <a:fillRect/>
          </a:stretch>
        </p:blipFill>
        <p:spPr bwMode="auto">
          <a:xfrm>
            <a:off x="2932176" y="2552700"/>
            <a:ext cx="4744793" cy="546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1D7FE1-5579-4A95-256F-17D0D4E0F14E}"/>
              </a:ext>
            </a:extLst>
          </p:cNvPr>
          <p:cNvSpPr txBox="1"/>
          <p:nvPr/>
        </p:nvSpPr>
        <p:spPr>
          <a:xfrm>
            <a:off x="4953000" y="8016401"/>
            <a:ext cx="841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90CDE-BF05-67FE-1C3C-AC9BB61BCA4D}"/>
              </a:ext>
            </a:extLst>
          </p:cNvPr>
          <p:cNvSpPr txBox="1"/>
          <p:nvPr/>
        </p:nvSpPr>
        <p:spPr>
          <a:xfrm>
            <a:off x="7676969" y="4991100"/>
            <a:ext cx="841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A49D5-0625-8BA8-E441-43F84AE652CF}"/>
              </a:ext>
            </a:extLst>
          </p:cNvPr>
          <p:cNvSpPr txBox="1"/>
          <p:nvPr/>
        </p:nvSpPr>
        <p:spPr>
          <a:xfrm>
            <a:off x="9467806" y="4991100"/>
            <a:ext cx="71513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이미지의 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size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는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(1, 28, 28)</a:t>
            </a: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      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값은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0~255</a:t>
            </a:r>
          </a:p>
        </p:txBody>
      </p:sp>
    </p:spTree>
    <p:extLst>
      <p:ext uri="{BB962C8B-B14F-4D97-AF65-F5344CB8AC3E}">
        <p14:creationId xmlns:p14="http://schemas.microsoft.com/office/powerpoint/2010/main" val="672221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D720-3F08-C34F-191E-8F09EAF4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752BF7F-1572-1BB0-AD49-D248EC566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0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이론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59A60D-8FDF-74D3-89D5-8675475F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171700"/>
            <a:ext cx="8259856" cy="594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C1185-E002-E471-D24A-0A1D4A7F167E}"/>
              </a:ext>
            </a:extLst>
          </p:cNvPr>
          <p:cNvSpPr txBox="1"/>
          <p:nvPr/>
        </p:nvSpPr>
        <p:spPr>
          <a:xfrm>
            <a:off x="13615304" y="4589335"/>
            <a:ext cx="2361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10 (0~9)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CBD09-4E3D-F0EB-5199-333E69BEF8BC}"/>
              </a:ext>
            </a:extLst>
          </p:cNvPr>
          <p:cNvSpPr txBox="1"/>
          <p:nvPr/>
        </p:nvSpPr>
        <p:spPr>
          <a:xfrm>
            <a:off x="1081928" y="4789557"/>
            <a:ext cx="3672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784 (=28*28)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D0874-91C2-98D0-1551-051BEC57F2DD}"/>
              </a:ext>
            </a:extLst>
          </p:cNvPr>
          <p:cNvSpPr txBox="1"/>
          <p:nvPr/>
        </p:nvSpPr>
        <p:spPr>
          <a:xfrm>
            <a:off x="6601488" y="1477530"/>
            <a:ext cx="11528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6CEDC-8E13-5393-377C-BE2DA06E0ED3}"/>
              </a:ext>
            </a:extLst>
          </p:cNvPr>
          <p:cNvSpPr txBox="1"/>
          <p:nvPr/>
        </p:nvSpPr>
        <p:spPr>
          <a:xfrm>
            <a:off x="8430288" y="1463814"/>
            <a:ext cx="10887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2CFDB-DBF4-EEF8-7CD2-E143E42E3D53}"/>
              </a:ext>
            </a:extLst>
          </p:cNvPr>
          <p:cNvSpPr txBox="1"/>
          <p:nvPr/>
        </p:nvSpPr>
        <p:spPr>
          <a:xfrm>
            <a:off x="10194968" y="1463814"/>
            <a:ext cx="825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64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4743B-8BC0-F3CC-6928-19A5D78FEBE5}"/>
              </a:ext>
            </a:extLst>
          </p:cNvPr>
          <p:cNvSpPr txBox="1"/>
          <p:nvPr/>
        </p:nvSpPr>
        <p:spPr>
          <a:xfrm>
            <a:off x="5749220" y="8115300"/>
            <a:ext cx="1556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0DB87-800D-5597-713A-FA643E1DE195}"/>
              </a:ext>
            </a:extLst>
          </p:cNvPr>
          <p:cNvSpPr txBox="1"/>
          <p:nvPr/>
        </p:nvSpPr>
        <p:spPr>
          <a:xfrm>
            <a:off x="7459036" y="8101584"/>
            <a:ext cx="1556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E94C4-D5AE-34BA-8350-C36A957E7557}"/>
              </a:ext>
            </a:extLst>
          </p:cNvPr>
          <p:cNvSpPr txBox="1"/>
          <p:nvPr/>
        </p:nvSpPr>
        <p:spPr>
          <a:xfrm>
            <a:off x="9168852" y="8087868"/>
            <a:ext cx="1556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460361-6CCF-4799-A50A-EDBBA3D6D1FE}"/>
              </a:ext>
            </a:extLst>
          </p:cNvPr>
          <p:cNvSpPr txBox="1"/>
          <p:nvPr/>
        </p:nvSpPr>
        <p:spPr>
          <a:xfrm>
            <a:off x="10746258" y="8980557"/>
            <a:ext cx="2390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0844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5DC9-F5F7-BB1A-BB4C-8EF37C4B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AECAE-E67C-3296-BBD9-5F0A6FAF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5B3653-03FE-FFB5-259F-672079506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DA98A-B7A0-ED57-72B9-98487244C471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240664-8D59-BD50-E67E-B630530109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A58924-47E2-3486-1515-0991B653B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63103"/>
            <a:ext cx="9264618" cy="79665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8B3595-F605-38CF-5924-FFADDAD6FC1A}"/>
              </a:ext>
            </a:extLst>
          </p:cNvPr>
          <p:cNvSpPr txBox="1"/>
          <p:nvPr/>
        </p:nvSpPr>
        <p:spPr>
          <a:xfrm>
            <a:off x="11125200" y="5117592"/>
            <a:ext cx="5859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</a:t>
            </a:r>
            <a:r>
              <a:rPr lang="ko-KR" altLang="en-US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제곱꼴인건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국룰이래요</a:t>
            </a:r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72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FE30-9014-09D1-DE5B-A7979583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5A2DE-1C1A-3A33-441A-C7A141E8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DDBCA9-EC79-8DE6-73A3-4FFE70E2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0F048-82FD-FA03-2843-3F08A645D555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BBCF09-B28A-F61F-04CD-08A7AA4DCC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526FAB-5D1C-ABD8-6608-57EB6065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68415"/>
            <a:ext cx="5181600" cy="16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F3920E-31F8-1CD1-20B6-BF65FC45B453}"/>
              </a:ext>
            </a:extLst>
          </p:cNvPr>
          <p:cNvSpPr txBox="1"/>
          <p:nvPr/>
        </p:nvSpPr>
        <p:spPr>
          <a:xfrm>
            <a:off x="7391400" y="3416007"/>
            <a:ext cx="1048075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확률 분포</a:t>
            </a: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-&gt; 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모든 차원 합 </a:t>
            </a: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</a:t>
            </a:r>
          </a:p>
          <a:p>
            <a:pPr lvl="0"/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CrossEntropyLoss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 </a:t>
            </a:r>
            <a:r>
              <a:rPr lang="en-US" altLang="ko-KR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전제로 함</a:t>
            </a:r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미분 형태가 </a:t>
            </a:r>
            <a:r>
              <a:rPr lang="ko-KR" altLang="en-US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깔끔하대요</a:t>
            </a:r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143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3A14-6305-D81A-B179-DFCC3343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260035A-F9CF-37D4-3915-64C76B971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코드 실습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23D62-28CC-F536-F4E3-0DC7D7A6BE5D}"/>
              </a:ext>
            </a:extLst>
          </p:cNvPr>
          <p:cNvSpPr txBox="1"/>
          <p:nvPr/>
        </p:nvSpPr>
        <p:spPr>
          <a:xfrm>
            <a:off x="6400800" y="4991100"/>
            <a:ext cx="5134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코드랑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아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@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가리로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ㄱㄱ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678CE-56EB-F72A-E178-237851A9FE30}"/>
              </a:ext>
            </a:extLst>
          </p:cNvPr>
          <p:cNvSpPr txBox="1"/>
          <p:nvPr/>
        </p:nvSpPr>
        <p:spPr>
          <a:xfrm>
            <a:off x="2590800" y="7200900"/>
            <a:ext cx="147383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…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하려고 했는데 늦잠 이슈로 모든 설명은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PPT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및 코드 주석에 첨부함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.</a:t>
            </a:r>
          </a:p>
          <a:p>
            <a:pPr lvl="0"/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…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하려고 했는데 너무 중노동이라 그냥 아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@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가리로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함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03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0EF7-87C7-6C30-8E9C-17AEE178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5C45181-247C-AEDC-4E61-4E8FB50A6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37922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Overfitting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 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&amp;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 </a:t>
            </a:r>
            <a:r>
              <a:rPr lang="en-US" altLang="ko-KR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Generalization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1026" name="Picture 2" descr="과대적합(overfitting) 및 과소적합(underfitting) 개념(+Early Stopping)">
            <a:extLst>
              <a:ext uri="{FF2B5EF4-FFF2-40B4-BE49-F238E27FC236}">
                <a16:creationId xmlns:a16="http://schemas.microsoft.com/office/drawing/2014/main" id="{05294166-A80B-3108-E1E5-A4E9EF1F0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2933700"/>
            <a:ext cx="10134600" cy="584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98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0C56-D901-00F0-DDE3-7A1A8CE0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524FF-2AE0-3D36-0ED5-FD047C60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1AA2C1-2F8E-F35E-BA6C-799AC5CA0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D3F95-09B0-8BB8-5ED4-25641FDB9848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D6BD56-273C-F2E9-379A-9745BCFC4A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 descr="3) Under/Over-fitting 해결방법 - 한땀한땀 딥러닝 컴퓨터 비전 백과사전">
            <a:extLst>
              <a:ext uri="{FF2B5EF4-FFF2-40B4-BE49-F238E27FC236}">
                <a16:creationId xmlns:a16="http://schemas.microsoft.com/office/drawing/2014/main" id="{BBBA7188-2575-3201-A5A6-B10726E5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798" y="2724150"/>
            <a:ext cx="12080403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709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40E8-CF64-E7A1-E4E3-AD30908F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09BAA-D770-C02F-CD8B-F68598FF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CB5380-AFD4-A14B-5BC4-75C9AD247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93C8C-5FC0-F652-7A7A-55B370307CF7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18AD66-1838-748B-8086-0BD581A21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en-US" altLang="ko-KR" sz="14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Dropout</a:t>
            </a:r>
            <a:r>
              <a:rPr lang="en-US" altLang="ko-KR" sz="14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14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35933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FC44C-2F80-BBB7-E670-30EA67DA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57ED519-A51E-C5C4-B8DC-AEF8DE36E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37922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3. </a:t>
            </a: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Optimizer </a:t>
            </a:r>
            <a:r>
              <a:rPr lang="ko-KR" alt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변화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2050" name="Picture 2" descr="딥러닝) optimizer ( SGD , Momentum , AdaGrad , RMSProp, Adam )">
            <a:extLst>
              <a:ext uri="{FF2B5EF4-FFF2-40B4-BE49-F238E27FC236}">
                <a16:creationId xmlns:a16="http://schemas.microsoft.com/office/drawing/2014/main" id="{CB2F8899-A3E6-35D8-C1DC-C29700240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856" y="2552700"/>
            <a:ext cx="12968288" cy="661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565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631-E7FF-094D-1BBC-53BD191E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06455-7724-88D5-72F5-8302A8A1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D9B575-A107-3909-D91B-32E5B0A0A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0ECDF-1793-38C1-6CFD-C2F50CF05BD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B6E712-3CEB-8789-57E3-6030F422A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CF87F2D-71BF-167B-7445-2EDDCC0A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943" y="2366010"/>
            <a:ext cx="6996113" cy="619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70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0664F-67EB-754D-828F-08643240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0454B-B21E-5A60-27E3-8844399DD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F9966-085F-780B-B58D-646FAE3BF43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09F57C-7E6D-7670-D2F8-F11D4CA8AF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감사합니다</a:t>
            </a:r>
            <a:r>
              <a:rPr lang="en-US" altLang="ko-KR" sz="16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!</a:t>
            </a:r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54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4517</TotalTime>
  <Words>238</Words>
  <Application>Microsoft Office PowerPoint</Application>
  <PresentationFormat>사용자 지정</PresentationFormat>
  <Paragraphs>72</Paragraphs>
  <Slides>17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맑은 고딕</vt:lpstr>
      <vt:lpstr>210 맨발의청춘 B</vt:lpstr>
      <vt:lpstr>Bandal</vt:lpstr>
      <vt:lpstr>210 맨발의청춘 R</vt:lpstr>
      <vt:lpstr>210 맨발의청춘 L</vt:lpstr>
      <vt:lpstr>Cambria Math</vt:lpstr>
      <vt:lpstr>Calibri</vt:lpstr>
      <vt:lpstr>Office Theme</vt:lpstr>
      <vt:lpstr>PowerPoint 프레젠테이션</vt:lpstr>
      <vt:lpstr>0. 이론</vt:lpstr>
      <vt:lpstr>3. 인공신경망 기본 구조</vt:lpstr>
      <vt:lpstr>3. 인공신경망 기본 구조</vt:lpstr>
      <vt:lpstr>0. 이론</vt:lpstr>
      <vt:lpstr>0. 이론</vt:lpstr>
      <vt:lpstr>0. 이론</vt:lpstr>
      <vt:lpstr>0. 이론</vt:lpstr>
      <vt:lpstr>PowerPoint 프레젠테이션</vt:lpstr>
      <vt:lpstr>PowerPoint 프레젠테이션</vt:lpstr>
      <vt:lpstr>1. 코드 실습</vt:lpstr>
      <vt:lpstr>2. Overfitting &amp; Generalization</vt:lpstr>
      <vt:lpstr>PowerPoint 프레젠테이션</vt:lpstr>
      <vt:lpstr>PowerPoint 프레젠테이션</vt:lpstr>
      <vt:lpstr>3. Optimizer 변화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남현석</dc:creator>
  <cp:lastModifiedBy>남현석</cp:lastModifiedBy>
  <cp:revision>22</cp:revision>
  <dcterms:created xsi:type="dcterms:W3CDTF">2022-05-30T13:19:20Z</dcterms:created>
  <dcterms:modified xsi:type="dcterms:W3CDTF">2025-12-28T07:30:53Z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2022-05-30T00:00:00Z</vt:filetime>
  </property>
</Properties>
</file>