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5" r:id="rId11"/>
    <p:sldId id="292" r:id="rId12"/>
    <p:sldId id="284" r:id="rId13"/>
    <p:sldId id="286" r:id="rId14"/>
    <p:sldId id="287" r:id="rId15"/>
    <p:sldId id="288" r:id="rId16"/>
    <p:sldId id="289" r:id="rId17"/>
    <p:sldId id="290" r:id="rId18"/>
    <p:sldId id="291" r:id="rId19"/>
    <p:sldId id="275" r:id="rId20"/>
  </p:sldIdLst>
  <p:sldSz cx="18288000" cy="10287000"/>
  <p:notesSz cx="18288000" cy="10287000"/>
  <p:embeddedFontLst>
    <p:embeddedFont>
      <p:font typeface="210 맨발의청춘 B" panose="02020603020101020101" pitchFamily="18" charset="-127"/>
      <p:regular r:id="rId22"/>
    </p:embeddedFont>
    <p:embeddedFont>
      <p:font typeface="210 맨발의청춘 L" panose="02020603020101020101" pitchFamily="18" charset="-127"/>
      <p:regular r:id="rId23"/>
    </p:embeddedFont>
    <p:embeddedFont>
      <p:font typeface="210 맨발의청춘 R" panose="02020603020101020101" pitchFamily="18" charset="-127"/>
      <p:regular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7C80"/>
    <a:srgbClr val="FF5050"/>
    <a:srgbClr val="1D1C29"/>
    <a:srgbClr val="EBE8D8"/>
    <a:srgbClr val="EBE7D8"/>
    <a:srgbClr val="253532"/>
    <a:srgbClr val="3D4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7" autoAdjust="0"/>
    <p:restoredTop sz="94660"/>
  </p:normalViewPr>
  <p:slideViewPr>
    <p:cSldViewPr>
      <p:cViewPr varScale="1">
        <p:scale>
          <a:sx n="70" d="100"/>
          <a:sy n="70" d="100"/>
        </p:scale>
        <p:origin x="2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93942-633E-49E1-BA04-F02517BD57C2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D2646-40CE-4580-93B3-C046C6404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6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8F35-1972-0996-8154-8C55D0FA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77D3BE-C492-4034-FC30-C6CB1B25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FE4B87-3F7D-C4AA-73E7-535DDDEE4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3BBDC5-C694-4705-C06F-00D25058C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495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61EB-E954-D0C9-CACD-F22CC604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818C67-AFA7-A0BE-42E1-E40887D5F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87E7E5-7720-E098-6D5C-7625C3F1E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AFE4C-43EB-0A6E-ECAB-A44145A2A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02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7DA82-AB2A-80D4-B57D-D4EEFCBA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5674D2-0DDA-ED93-B983-256D5BDE7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937E07-A626-DC03-1547-604C9DB78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F7F465-7660-C93E-75F8-A60F21848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091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97DB-96C6-9D13-212E-9AC0DA5B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BECE44-5C52-A9B3-6E7E-F70D9D9E7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52DC22-A43D-BB85-662E-6BEF82FCB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CF0CC4-F12F-1833-E0FC-5E2672751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187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64334-E65C-CF89-7BD6-297808D42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DB3ABC-E1E3-305A-42B6-0FA54092B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DDC34C-07D3-5854-A3F8-E535C115F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A9B949-C033-4BF4-D53B-2E03084CA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398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101FE-07CE-E128-1484-547EB885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B171DD-6EBE-1404-EA79-93FACD997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F700B5-0B71-F22B-413A-1CB4529E6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B3F17C-B4B2-F249-040D-4F8F37C8C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864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92B96-A60A-0B76-3FF5-C340C8D0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132083-9086-6C70-A8B4-F38219584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835231-C762-7612-006E-069749E72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0DD207-C19B-6DA2-33C2-94F1AD154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642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E94C9-139D-B8F9-B1F9-B112799C4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BC70C6-0654-67C7-A7A4-4FEF3D8B6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232927-4EC7-1328-8984-D219E3144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68089C-106C-9CA7-627C-5FC06F464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332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4C05-BE0F-71A5-419A-04898E6FE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745A55-76D0-40E8-34B3-4E83D6D88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BBDF8E-9B0A-FBD1-5E87-26B74AAFA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46A9F4-FA27-46F9-8EDF-D718C3DD4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057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ABC06-3C40-0E19-428A-5E4DEDB91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A5B670-11EA-4F5B-12FF-8B856CAFC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62908D-5A18-AC75-090B-56898401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CF8E2-830A-D9CE-8DD2-07F503004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839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51E5-3D4E-F8C0-7F5A-C2E712868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DED9A7-2176-7474-A18F-7A1D3B08E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970885-14C6-0283-E81D-5D43852F2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4B5C25-0F46-8F8C-F790-DA9BE7E3B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59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93ADB-3A49-9592-2E44-96471E675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83CB59-2FB4-2151-12E0-30F031D52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AC9C37-185E-4713-8C92-66C2CF187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8773CD-78B5-92B1-D61B-ABBC9D7FF6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609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08AF-CFCA-90A1-3AD7-03EF9E32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B8BA8C-6115-E078-7CE8-FE933AAB0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0E1708-4442-A303-5ED2-5FA9A6171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FFAA34-257D-F485-44C4-E4F2EDDDB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67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622490"/>
            <a:ext cx="162560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  <a:latin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BE7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622493"/>
            <a:ext cx="162560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0" i="0">
                <a:solidFill>
                  <a:srgbClr val="253432"/>
                </a:solidFill>
                <a:latin typeface="Bandal"/>
                <a:cs typeface="Band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210 맨발의청춘 B" panose="02020603020101020101" pitchFamily="18" charset="-127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1485900"/>
            <a:ext cx="13843000" cy="55531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ko-KR" altLang="en-US" sz="15000" dirty="0">
                <a:solidFill>
                  <a:srgbClr val="253532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강화학습</a:t>
            </a:r>
            <a:endParaRPr lang="en-US" altLang="ko-KR" sz="15000" dirty="0">
              <a:solidFill>
                <a:srgbClr val="253532"/>
              </a:solidFill>
              <a:latin typeface="210 맨발의청춘 B" panose="02020603020101020101" pitchFamily="18" charset="-127"/>
              <a:ea typeface="210 맨발의청춘 B" panose="02020603020101020101" pitchFamily="18" charset="-127"/>
              <a:cs typeface="Bandal"/>
            </a:endParaRPr>
          </a:p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en-US" altLang="ko-KR" sz="2000" dirty="0">
                <a:solidFill>
                  <a:srgbClr val="253532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 </a:t>
            </a:r>
          </a:p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ko-KR" altLang="en-US" sz="15000" dirty="0" err="1">
                <a:solidFill>
                  <a:srgbClr val="FF5050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두개재</a:t>
            </a:r>
            <a:endParaRPr sz="15000" dirty="0">
              <a:solidFill>
                <a:srgbClr val="FF5050"/>
              </a:solidFill>
              <a:latin typeface="210 맨발의청춘 B" panose="02020603020101020101" pitchFamily="18" charset="-127"/>
              <a:ea typeface="210 맨발의청춘 B" panose="02020603020101020101" pitchFamily="18" charset="-127"/>
              <a:cs typeface="Band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8191500"/>
            <a:ext cx="157734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4500" spc="50" dirty="0" err="1">
                <a:solidFill>
                  <a:srgbClr val="253532"/>
                </a:solidFill>
                <a:uFill>
                  <a:solidFill>
                    <a:srgbClr val="253432"/>
                  </a:solidFill>
                </a:uFill>
                <a:latin typeface="210 맨발의청춘 L" panose="02020603020101020101" pitchFamily="18" charset="-127"/>
                <a:ea typeface="210 맨발의청춘 L" panose="02020603020101020101" pitchFamily="18" charset="-127"/>
                <a:cs typeface="Noto Sans CJK JP Light"/>
              </a:rPr>
              <a:t>나는야</a:t>
            </a:r>
            <a:r>
              <a:rPr lang="en-US" altLang="ko-KR" sz="4500" spc="50" dirty="0">
                <a:solidFill>
                  <a:srgbClr val="253532"/>
                </a:solidFill>
                <a:uFill>
                  <a:solidFill>
                    <a:srgbClr val="253432"/>
                  </a:solidFill>
                </a:uFill>
                <a:latin typeface="210 맨발의청춘 L" panose="02020603020101020101" pitchFamily="18" charset="-127"/>
                <a:ea typeface="210 맨발의청춘 L" panose="02020603020101020101" pitchFamily="18" charset="-127"/>
                <a:cs typeface="Noto Sans CJK JP Light"/>
              </a:rPr>
              <a:t> </a:t>
            </a:r>
            <a:r>
              <a:rPr lang="ko-KR" altLang="en-US" sz="4500" spc="50" dirty="0">
                <a:solidFill>
                  <a:srgbClr val="253532"/>
                </a:solidFill>
                <a:uFill>
                  <a:solidFill>
                    <a:srgbClr val="253432"/>
                  </a:solidFill>
                </a:uFill>
                <a:latin typeface="210 맨발의청춘 L" panose="02020603020101020101" pitchFamily="18" charset="-127"/>
                <a:ea typeface="210 맨발의청춘 L" panose="02020603020101020101" pitchFamily="18" charset="-127"/>
                <a:cs typeface="Noto Sans CJK JP Light"/>
              </a:rPr>
              <a:t>남현석</a:t>
            </a:r>
            <a:endParaRPr sz="45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  <a:cs typeface="Noto Sans CJK JP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70C22-886D-4245-777B-1D517C50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8B7101-48D0-D377-09A6-4B9331A17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44564B-353C-66B7-D765-BB551AE86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23DA-5569-FEB9-C6ED-A040485F5B7F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D3A7FB-A7B1-3DFE-9981-3AD09276A0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1026" name="Picture 2" descr="1. AI, 머신러닝, 딥러닝의 기초 개념 요약 - 내 삶속 AI: 알게모르게 스며든 AI기술, 제대로 알고쓰자!">
            <a:extLst>
              <a:ext uri="{FF2B5EF4-FFF2-40B4-BE49-F238E27FC236}">
                <a16:creationId xmlns:a16="http://schemas.microsoft.com/office/drawing/2014/main" id="{F85AF98E-B577-0D2E-899F-09DD0F341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1333500"/>
            <a:ext cx="12115800" cy="747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5683F1-CA53-1B06-3974-B1B534D928D7}"/>
              </a:ext>
            </a:extLst>
          </p:cNvPr>
          <p:cNvSpPr txBox="1"/>
          <p:nvPr/>
        </p:nvSpPr>
        <p:spPr>
          <a:xfrm>
            <a:off x="6553200" y="1333500"/>
            <a:ext cx="35541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기계학습 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유남쌩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2820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8D539-28D0-E4DB-A15C-334A56EB9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D9EF1-2D37-E5F8-0B50-0E172EDC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776B90-090E-0CC8-EC07-1173550E0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8DBC4-20D8-FAF9-EC6E-D76CA6425660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9C40A1-8A5B-2B97-E901-0CDABADC00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2050" name="Picture 2" descr="AI 용어] 기계학습의 알고리즘 : 지도학습 / 비지도학습 / 강화학습 : 네이버 블로그">
            <a:extLst>
              <a:ext uri="{FF2B5EF4-FFF2-40B4-BE49-F238E27FC236}">
                <a16:creationId xmlns:a16="http://schemas.microsoft.com/office/drawing/2014/main" id="{38BB34CC-4F35-2CE2-F7EA-9E2B65D4A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422" y="1041501"/>
            <a:ext cx="13347156" cy="857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D6F96455-30B6-4654-BBF9-4B44558C0CE6}"/>
              </a:ext>
            </a:extLst>
          </p:cNvPr>
          <p:cNvSpPr/>
          <p:nvPr/>
        </p:nvSpPr>
        <p:spPr>
          <a:xfrm>
            <a:off x="3135866" y="4686300"/>
            <a:ext cx="3886200" cy="3931611"/>
          </a:xfrm>
          <a:prstGeom prst="ellipse">
            <a:avLst/>
          </a:prstGeom>
          <a:noFill/>
          <a:ln w="76200">
            <a:solidFill>
              <a:srgbClr val="3D47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1549E6D-FE2B-C72A-57A7-9811B7DAC094}"/>
              </a:ext>
            </a:extLst>
          </p:cNvPr>
          <p:cNvSpPr/>
          <p:nvPr/>
        </p:nvSpPr>
        <p:spPr>
          <a:xfrm>
            <a:off x="11373630" y="4648200"/>
            <a:ext cx="3886200" cy="3931611"/>
          </a:xfrm>
          <a:prstGeom prst="ellipse">
            <a:avLst/>
          </a:prstGeom>
          <a:noFill/>
          <a:ln w="76200">
            <a:solidFill>
              <a:srgbClr val="3D47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925F8-BB7A-3536-5476-DA56AC490419}"/>
              </a:ext>
            </a:extLst>
          </p:cNvPr>
          <p:cNvSpPr txBox="1"/>
          <p:nvPr/>
        </p:nvSpPr>
        <p:spPr>
          <a:xfrm>
            <a:off x="3206640" y="4306184"/>
            <a:ext cx="5271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5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F9F7A-F7CE-99DA-3748-EC9451FA15B0}"/>
              </a:ext>
            </a:extLst>
          </p:cNvPr>
          <p:cNvSpPr txBox="1"/>
          <p:nvPr/>
        </p:nvSpPr>
        <p:spPr>
          <a:xfrm>
            <a:off x="11506200" y="4255413"/>
            <a:ext cx="5271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5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376034-A686-F98F-F910-1F1E365DE9E3}"/>
              </a:ext>
            </a:extLst>
          </p:cNvPr>
          <p:cNvSpPr txBox="1"/>
          <p:nvPr/>
        </p:nvSpPr>
        <p:spPr>
          <a:xfrm>
            <a:off x="11068830" y="8755275"/>
            <a:ext cx="4495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5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</a:t>
            </a:r>
            <a:r>
              <a:rPr lang="ko-KR" altLang="en-US" sz="5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존</a:t>
            </a:r>
            <a:r>
              <a:rPr lang="en-US" altLang="ko-KR" sz="5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@</a:t>
            </a:r>
            <a:r>
              <a:rPr lang="ko-KR" altLang="en-US" sz="5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나 어려움</a:t>
            </a:r>
            <a:r>
              <a:rPr lang="en-US" altLang="ko-KR" sz="5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0333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01C67-43D2-518A-14F7-7D7FD6A9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F9FC6-19D9-395E-BAD5-19259F8C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EAC982-BEC0-408D-2309-69049F224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0AD01-A403-162E-282C-24A6CE4E9938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1B0137-860D-5056-6042-089984E3F5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Q-Learning</a:t>
            </a:r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8484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4317-DF4F-61AE-A8AA-FB7131812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4798D-F02C-D2C7-AEA6-AC040961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E44763-0552-0BB9-6FFF-58BE9ADA0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080B5-6E5A-AD17-AB88-060DE3E8DB54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FC25C1E-238D-3069-2A99-59B3444DEF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Q-Learning</a:t>
            </a:r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1026" name="Picture 2" descr="Q-Learning 설명: 불확실한 환경에서 의사 결정 내리기">
            <a:extLst>
              <a:ext uri="{FF2B5EF4-FFF2-40B4-BE49-F238E27FC236}">
                <a16:creationId xmlns:a16="http://schemas.microsoft.com/office/drawing/2014/main" id="{19E99429-F2FB-97CF-33A0-CA159ADC0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900275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84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35718-F7F6-DD91-0CB9-2A843A7A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0A2A373-57AC-223D-541F-3CCCDEA17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1. 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강화학습 환경</a:t>
            </a: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: Frozen Lake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A324D-7D63-EF13-A9A8-53AEF86F2A08}"/>
              </a:ext>
            </a:extLst>
          </p:cNvPr>
          <p:cNvSpPr txBox="1"/>
          <p:nvPr/>
        </p:nvSpPr>
        <p:spPr>
          <a:xfrm>
            <a:off x="2057400" y="4381500"/>
            <a:ext cx="264848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 -&gt; G</a:t>
            </a:r>
          </a:p>
          <a:p>
            <a:pPr lvl="0"/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H: Hole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F: Frozen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391E69-64F3-A784-A20A-61D5F3613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705100"/>
            <a:ext cx="8143875" cy="606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267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8EC8-90A2-CF64-BC3D-C52746D67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98180C6-F4D7-9FED-C703-7C5F8FAA1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1. 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강화학습 환경</a:t>
            </a: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: Frozen Lake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C9CE1-15AD-7A74-ACFC-2CD5B68CDDC9}"/>
              </a:ext>
            </a:extLst>
          </p:cNvPr>
          <p:cNvSpPr txBox="1"/>
          <p:nvPr/>
        </p:nvSpPr>
        <p:spPr>
          <a:xfrm>
            <a:off x="2057400" y="4381500"/>
            <a:ext cx="264848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 -&gt; G</a:t>
            </a:r>
          </a:p>
          <a:p>
            <a:pPr lvl="0"/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H: Hole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F: Frozen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FE4F3C6-B68E-6840-8026-87C702A75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705100"/>
            <a:ext cx="8143875" cy="606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133CAA8-7BDA-6A1F-B31B-E3EE2F0DF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4076700"/>
            <a:ext cx="7772399" cy="471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613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5067-F4C9-80D2-AEF3-9E09F3D46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9409F9F-2DB0-D34B-64DD-84F798A163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Q-Table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B7C5BD-6A6C-8AD7-85C6-DE6BBA524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705100"/>
            <a:ext cx="8143875" cy="606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AC8F9D-08B0-9117-FA36-29C1CEF0E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4076700"/>
            <a:ext cx="7772399" cy="471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558846-8E3D-09D8-5DB0-C1A46B8A53C7}"/>
              </a:ext>
            </a:extLst>
          </p:cNvPr>
          <p:cNvSpPr txBox="1"/>
          <p:nvPr/>
        </p:nvSpPr>
        <p:spPr>
          <a:xfrm>
            <a:off x="2057400" y="4381500"/>
            <a:ext cx="391325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각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  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상황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   action 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행동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  <a:p>
            <a:pPr lvl="0"/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점수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8762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6D3C-44D4-5E4E-C3AE-1762FCFA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50EF22F-BFC8-9057-FD23-00E515B10A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Q-Table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54CC1A3-DFB3-34B3-A471-75279AD99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705100"/>
            <a:ext cx="8143875" cy="606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E5FBDE-44B4-4AF1-4B70-FDB87992F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4076700"/>
            <a:ext cx="7772399" cy="471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1306FD-F349-1D22-308F-470065DACA44}"/>
              </a:ext>
            </a:extLst>
          </p:cNvPr>
          <p:cNvSpPr txBox="1"/>
          <p:nvPr/>
        </p:nvSpPr>
        <p:spPr>
          <a:xfrm>
            <a:off x="2057400" y="4381500"/>
            <a:ext cx="391325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각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  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상황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   action 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행동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  <a:p>
            <a:pPr lvl="0"/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점수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93EF11-2EE1-0E08-ECEA-1F3C06087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622" y="3477461"/>
            <a:ext cx="8394877" cy="452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968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BC027-7789-65C1-F498-3E851E3E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C352173-4A72-8E32-351B-7A29F7CDB5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Q-Table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58B1A1E-4BE6-5E88-09F5-86FDF698F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705100"/>
            <a:ext cx="8143875" cy="606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DD8DE6-33F0-7D80-2776-78593C1FB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4076700"/>
            <a:ext cx="7772399" cy="471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21494E-C1C4-5841-724A-C4E84A7BC38B}"/>
              </a:ext>
            </a:extLst>
          </p:cNvPr>
          <p:cNvSpPr txBox="1"/>
          <p:nvPr/>
        </p:nvSpPr>
        <p:spPr>
          <a:xfrm>
            <a:off x="2057400" y="4381500"/>
            <a:ext cx="391325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각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  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상황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   action 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행동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  <a:p>
            <a:pPr lvl="0"/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점수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65C6DE-42EA-AACC-9A6C-4AE9F46BB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622" y="3477461"/>
            <a:ext cx="8394877" cy="45227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BB9BC2-5D15-3C83-B8A2-394E5A2ACEDB}"/>
              </a:ext>
            </a:extLst>
          </p:cNvPr>
          <p:cNvSpPr txBox="1"/>
          <p:nvPr/>
        </p:nvSpPr>
        <p:spPr>
          <a:xfrm>
            <a:off x="7315200" y="9305544"/>
            <a:ext cx="9254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Q-learning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 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↑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를 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업데이트하는거임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9A61305-8CB4-49AF-CD2A-76565A70F7F0}"/>
              </a:ext>
            </a:extLst>
          </p:cNvPr>
          <p:cNvSpPr/>
          <p:nvPr/>
        </p:nvSpPr>
        <p:spPr>
          <a:xfrm>
            <a:off x="9296400" y="4610100"/>
            <a:ext cx="1969534" cy="1371600"/>
          </a:xfrm>
          <a:prstGeom prst="ellipse">
            <a:avLst/>
          </a:prstGeom>
          <a:noFill/>
          <a:ln w="762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2D05A-A435-B1D9-3459-3F2BB0D64F47}"/>
              </a:ext>
            </a:extLst>
          </p:cNvPr>
          <p:cNvSpPr txBox="1"/>
          <p:nvPr/>
        </p:nvSpPr>
        <p:spPr>
          <a:xfrm>
            <a:off x="8763000" y="6078762"/>
            <a:ext cx="3619902" cy="707886"/>
          </a:xfrm>
          <a:prstGeom prst="rect">
            <a:avLst/>
          </a:prstGeom>
          <a:solidFill>
            <a:srgbClr val="1D1C29"/>
          </a:solidFill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Q-value(Q</a:t>
            </a:r>
            <a:r>
              <a:rPr lang="ko-KR" altLang="en-US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31145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8234C-1F92-70FF-D309-2E508993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E5A66EE-2BC1-0051-AF43-6F92DA0BA9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Q-Table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2722DF8-3715-09C8-1EC5-410A68C81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705100"/>
            <a:ext cx="8143875" cy="606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5A208C-88CC-9F5D-38F4-96BF8C143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4076700"/>
            <a:ext cx="7772399" cy="471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BFD79E-A04D-BC99-1932-BC6E0ECC56C2}"/>
              </a:ext>
            </a:extLst>
          </p:cNvPr>
          <p:cNvSpPr txBox="1"/>
          <p:nvPr/>
        </p:nvSpPr>
        <p:spPr>
          <a:xfrm>
            <a:off x="2057400" y="4381500"/>
            <a:ext cx="391325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각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  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상황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   action 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행동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  <a:p>
            <a:pPr lvl="0"/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점수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1165AC-66D1-4B3A-5457-6439B20B1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622" y="3477461"/>
            <a:ext cx="8394877" cy="45227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C40F65-1D47-DE77-8F24-28ADC0779054}"/>
              </a:ext>
            </a:extLst>
          </p:cNvPr>
          <p:cNvSpPr txBox="1"/>
          <p:nvPr/>
        </p:nvSpPr>
        <p:spPr>
          <a:xfrm>
            <a:off x="7315200" y="9305544"/>
            <a:ext cx="9254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Q-learning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 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↑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를 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업데이트하는거임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2F9D674-E759-F36E-8FBE-C1BFC70AD087}"/>
              </a:ext>
            </a:extLst>
          </p:cNvPr>
          <p:cNvSpPr/>
          <p:nvPr/>
        </p:nvSpPr>
        <p:spPr>
          <a:xfrm>
            <a:off x="9296400" y="4610100"/>
            <a:ext cx="1969534" cy="1371600"/>
          </a:xfrm>
          <a:prstGeom prst="ellipse">
            <a:avLst/>
          </a:prstGeom>
          <a:noFill/>
          <a:ln w="762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28444-303F-54B8-049C-A918ABCDE5C5}"/>
              </a:ext>
            </a:extLst>
          </p:cNvPr>
          <p:cNvSpPr txBox="1"/>
          <p:nvPr/>
        </p:nvSpPr>
        <p:spPr>
          <a:xfrm>
            <a:off x="8763000" y="6078762"/>
            <a:ext cx="3619902" cy="707886"/>
          </a:xfrm>
          <a:prstGeom prst="rect">
            <a:avLst/>
          </a:prstGeom>
          <a:solidFill>
            <a:srgbClr val="1D1C29"/>
          </a:solidFill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Q-value(Q</a:t>
            </a:r>
            <a:r>
              <a:rPr lang="ko-KR" altLang="en-US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49B59-DE52-9E94-5940-3B0292525BE3}"/>
              </a:ext>
            </a:extLst>
          </p:cNvPr>
          <p:cNvSpPr txBox="1"/>
          <p:nvPr/>
        </p:nvSpPr>
        <p:spPr>
          <a:xfrm>
            <a:off x="8331477" y="1717318"/>
            <a:ext cx="58689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처음엔 모든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Q-value = 0</a:t>
            </a:r>
          </a:p>
        </p:txBody>
      </p:sp>
    </p:spTree>
    <p:extLst>
      <p:ext uri="{BB962C8B-B14F-4D97-AF65-F5344CB8AC3E}">
        <p14:creationId xmlns:p14="http://schemas.microsoft.com/office/powerpoint/2010/main" val="61919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5390A-FB29-D40F-A0C8-02D161DFD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B8E8B22-CE62-245C-8C7F-FB74BD8CDB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3. </a:t>
            </a: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Q-Learning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3914A11-EF9F-71F2-EBFF-03C781EB6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2625059"/>
            <a:ext cx="8143875" cy="606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0E3DC3-8975-5EFC-4133-2FE5CE05B84B}"/>
              </a:ext>
            </a:extLst>
          </p:cNvPr>
          <p:cNvSpPr txBox="1"/>
          <p:nvPr/>
        </p:nvSpPr>
        <p:spPr>
          <a:xfrm>
            <a:off x="1371600" y="2625059"/>
            <a:ext cx="6248827" cy="7402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0" indent="-742950">
              <a:lnSpc>
                <a:spcPct val="150000"/>
              </a:lnSpc>
              <a:buAutoNum type="arabicPeriod"/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지금 상태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(state)</a:t>
            </a:r>
          </a:p>
          <a:p>
            <a:pPr lvl="1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=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현재 칸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marL="742950" lvl="0" indent="-742950">
              <a:lnSpc>
                <a:spcPct val="150000"/>
              </a:lnSpc>
              <a:buAutoNum type="arabicPeriod"/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내가 한 행동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(action)</a:t>
            </a:r>
          </a:p>
          <a:p>
            <a:pPr lvl="1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=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상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/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/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좌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/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우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marL="742950" lvl="0" indent="-742950">
              <a:lnSpc>
                <a:spcPct val="150000"/>
              </a:lnSpc>
              <a:buAutoNum type="arabicPeriod"/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받은 보상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(reward)</a:t>
            </a:r>
          </a:p>
          <a:p>
            <a:pPr lvl="1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= 0 or 1 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단순화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  <a:p>
            <a:pPr marL="742950" lvl="0" indent="-742950">
              <a:lnSpc>
                <a:spcPct val="150000"/>
              </a:lnSpc>
              <a:buAutoNum type="arabicPeriod"/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다음 상태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(next state)</a:t>
            </a:r>
          </a:p>
          <a:p>
            <a:pPr lvl="1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=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다음 칸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1808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7F31-3712-EF67-28AD-569A7EA0B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746A38B-04F9-9603-EDC4-310953F04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3. </a:t>
            </a: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Q-Learning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85664-0223-912D-3DFA-525CD872301C}"/>
              </a:ext>
            </a:extLst>
          </p:cNvPr>
          <p:cNvSpPr txBox="1"/>
          <p:nvPr/>
        </p:nvSpPr>
        <p:spPr>
          <a:xfrm>
            <a:off x="5562600" y="8267700"/>
            <a:ext cx="733726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다음 칸에서 </a:t>
            </a:r>
            <a:r>
              <a:rPr lang="ko-KR" altLang="en-US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제일 잘하면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받을 점수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6" name="그림 5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DF1EC4-AD25-C7C9-349F-00F13C577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065" y="3467100"/>
            <a:ext cx="14009869" cy="3733800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91F35E17-D10D-0ECF-4DCE-39CECACE211F}"/>
              </a:ext>
            </a:extLst>
          </p:cNvPr>
          <p:cNvSpPr/>
          <p:nvPr/>
        </p:nvSpPr>
        <p:spPr>
          <a:xfrm>
            <a:off x="7239000" y="5295900"/>
            <a:ext cx="4114800" cy="838200"/>
          </a:xfrm>
          <a:prstGeom prst="ellipse">
            <a:avLst/>
          </a:prstGeom>
          <a:noFill/>
          <a:ln w="76200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65357BE-E45F-9D35-52B6-D3D2C884F9ED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9296400" y="6134100"/>
            <a:ext cx="152400" cy="2133600"/>
          </a:xfrm>
          <a:prstGeom prst="straightConnector1">
            <a:avLst/>
          </a:prstGeom>
          <a:ln w="76200">
            <a:solidFill>
              <a:srgbClr val="FF7C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448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AD8D6-291D-9002-95E1-E3011815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7C8388B-BF69-6B5B-30F6-21EB6F5EB7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3. </a:t>
            </a: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Q-Learning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AAD20-7EA7-77BD-64AE-669596321B9E}"/>
              </a:ext>
            </a:extLst>
          </p:cNvPr>
          <p:cNvSpPr txBox="1"/>
          <p:nvPr/>
        </p:nvSpPr>
        <p:spPr>
          <a:xfrm>
            <a:off x="6553200" y="8267700"/>
            <a:ext cx="4153701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원래 생각하던 점수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6" name="그림 5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BA2A8B-45A6-2766-C57B-4622C4FF3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065" y="3467100"/>
            <a:ext cx="14009869" cy="3733800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B4B21A99-FE48-96BA-A9AC-57F086B3975D}"/>
              </a:ext>
            </a:extLst>
          </p:cNvPr>
          <p:cNvSpPr/>
          <p:nvPr/>
        </p:nvSpPr>
        <p:spPr>
          <a:xfrm>
            <a:off x="11811000" y="5295900"/>
            <a:ext cx="4114800" cy="838200"/>
          </a:xfrm>
          <a:prstGeom prst="ellipse">
            <a:avLst/>
          </a:prstGeom>
          <a:noFill/>
          <a:ln w="76200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5E3B75A-7C05-026D-052A-204E9A86C018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8630051" y="6134100"/>
            <a:ext cx="5238349" cy="2133600"/>
          </a:xfrm>
          <a:prstGeom prst="straightConnector1">
            <a:avLst/>
          </a:prstGeom>
          <a:ln w="76200">
            <a:solidFill>
              <a:srgbClr val="FF7C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027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3713-143D-9859-7629-1F95ADD94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9F53892-C9BD-B893-4E20-5CF505C94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3. </a:t>
            </a: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Q-Learning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E39BC-1D9D-856A-1265-8994B8F92D03}"/>
              </a:ext>
            </a:extLst>
          </p:cNvPr>
          <p:cNvSpPr txBox="1"/>
          <p:nvPr/>
        </p:nvSpPr>
        <p:spPr>
          <a:xfrm>
            <a:off x="4539120" y="7483120"/>
            <a:ext cx="916468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실제로 겪은 점수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와 </a:t>
            </a:r>
            <a:r>
              <a:rPr lang="ko-KR" altLang="en-US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원래 믿던 점수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간의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차이만큼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값을 교정 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6" name="그림 5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B58AC4-65F7-0A10-0D9B-02C702DF1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065" y="3467100"/>
            <a:ext cx="14009869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95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7960C-A70A-3870-E3F0-A79B9CF6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3E5F24E-E0E5-E144-0F80-70677BF640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4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el-GR" altLang="ko-KR" sz="7200" dirty="0"/>
              <a:t>ε-</a:t>
            </a:r>
            <a:r>
              <a:rPr lang="en-US" altLang="ko-KR" sz="7200" dirty="0"/>
              <a:t>greedy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0A38A-0D12-B7BE-1D48-C2BE03BD140A}"/>
              </a:ext>
            </a:extLst>
          </p:cNvPr>
          <p:cNvSpPr txBox="1"/>
          <p:nvPr/>
        </p:nvSpPr>
        <p:spPr>
          <a:xfrm>
            <a:off x="1676400" y="2320662"/>
            <a:ext cx="1412758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greedy algorithm: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그 상황에서 제일 좋아 보이는 선택지를 선택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5122" name="Picture 2" descr="What is Greedy Algorithm: Example, Applications and More | Simplilearn">
            <a:extLst>
              <a:ext uri="{FF2B5EF4-FFF2-40B4-BE49-F238E27FC236}">
                <a16:creationId xmlns:a16="http://schemas.microsoft.com/office/drawing/2014/main" id="{D9AE8B3D-2069-F242-703F-749304E6D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924300"/>
            <a:ext cx="10579894" cy="530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752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D589A-4F06-95A6-66FD-C03D0713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0D8993E-0A48-917D-FA8B-068041F672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4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el-GR" altLang="ko-KR" sz="7200" dirty="0"/>
              <a:t>ε-</a:t>
            </a:r>
            <a:r>
              <a:rPr lang="en-US" altLang="ko-KR" sz="7200" dirty="0"/>
              <a:t>greedy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761D9-0B38-B59A-182D-0DCE56004C8A}"/>
              </a:ext>
            </a:extLst>
          </p:cNvPr>
          <p:cNvSpPr txBox="1"/>
          <p:nvPr/>
        </p:nvSpPr>
        <p:spPr>
          <a:xfrm>
            <a:off x="1676400" y="2320662"/>
            <a:ext cx="1412758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greedy algorithm: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그 상황에서 제일 좋아 보이는 선택지를 선택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C706B6-282A-104B-0889-A7DDC5702AC8}"/>
              </a:ext>
            </a:extLst>
          </p:cNvPr>
          <p:cNvSpPr txBox="1"/>
          <p:nvPr/>
        </p:nvSpPr>
        <p:spPr>
          <a:xfrm>
            <a:off x="4157848" y="4175825"/>
            <a:ext cx="916468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새로운 곳을 안 가니까 </a:t>
            </a:r>
            <a:r>
              <a:rPr lang="ko-KR" altLang="en-US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학습이 안됨 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ㅠㅠ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159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EDD42-EA9C-7F0E-F2BB-AFB5A8241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63C0D7C-3346-5616-0A9F-502BF114E5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4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el-GR" altLang="ko-KR" sz="7200" dirty="0"/>
              <a:t>ε-</a:t>
            </a:r>
            <a:r>
              <a:rPr lang="en-US" altLang="ko-KR" sz="7200" dirty="0"/>
              <a:t>greedy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E2814-46A5-FA54-301A-5B956E93B125}"/>
              </a:ext>
            </a:extLst>
          </p:cNvPr>
          <p:cNvSpPr txBox="1"/>
          <p:nvPr/>
        </p:nvSpPr>
        <p:spPr>
          <a:xfrm>
            <a:off x="1676400" y="2320662"/>
            <a:ext cx="1412758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greedy algorithm: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그 상황에서 제일 좋아 보이는 선택지를 선택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1F6465-1F19-EEA8-C0B2-6D4CD5B52C4C}"/>
              </a:ext>
            </a:extLst>
          </p:cNvPr>
          <p:cNvSpPr txBox="1"/>
          <p:nvPr/>
        </p:nvSpPr>
        <p:spPr>
          <a:xfrm>
            <a:off x="4157848" y="4175825"/>
            <a:ext cx="916468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새로운 곳을 안 가니까 </a:t>
            </a:r>
            <a:r>
              <a:rPr lang="ko-KR" altLang="en-US" sz="4000" dirty="0">
                <a:solidFill>
                  <a:srgbClr val="FF7C8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학습이 안됨 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ㅠㅠ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C32B6-DF51-FA99-51C6-965A54628E5A}"/>
              </a:ext>
            </a:extLst>
          </p:cNvPr>
          <p:cNvSpPr txBox="1"/>
          <p:nvPr/>
        </p:nvSpPr>
        <p:spPr>
          <a:xfrm>
            <a:off x="4157848" y="5829300"/>
            <a:ext cx="705193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확률 </a:t>
            </a:r>
            <a:r>
              <a:rPr lang="el-GR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ε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random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선택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      1-</a:t>
            </a:r>
            <a:r>
              <a:rPr lang="el-GR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ε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최선의 선택지 선택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2093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0664F-67EB-754D-828F-08643240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60454B-B21E-5A60-27E3-8844399DD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F9966-085F-780B-B58D-646FAE3BF43D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09F57C-7E6D-7670-D2F8-F11D4CA8AF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</a:p>
          <a:p>
            <a:pPr algn="ctr"/>
            <a:r>
              <a:rPr lang="ko-KR" altLang="en-US" sz="16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오늘 </a:t>
            </a:r>
            <a:r>
              <a:rPr lang="en-US" altLang="ko-KR" sz="16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19</a:t>
            </a:r>
            <a:r>
              <a:rPr lang="ko-KR" altLang="en-US" sz="16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시</a:t>
            </a:r>
            <a:endParaRPr lang="en-US" altLang="ko-KR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algn="ctr"/>
            <a:r>
              <a:rPr lang="en-US" altLang="ko-KR" sz="3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</a:p>
          <a:p>
            <a:pPr algn="ctr"/>
            <a:r>
              <a:rPr lang="en-US" altLang="ko-KR" sz="16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DK vs</a:t>
            </a:r>
            <a:r>
              <a:rPr lang="ko-KR" altLang="en-US" sz="16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en-US" altLang="ko-KR" sz="16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GENG</a:t>
            </a:r>
          </a:p>
          <a:p>
            <a:pPr algn="ctr"/>
            <a:r>
              <a:rPr lang="en-US" altLang="ko-KR" sz="3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</a:p>
          <a:p>
            <a:pPr algn="ctr"/>
            <a:r>
              <a:rPr lang="ko-KR" altLang="en-US" sz="16000" b="1" dirty="0" err="1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많</a:t>
            </a:r>
            <a:r>
              <a:rPr lang="ko-KR" altLang="en-US" sz="16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관 부</a:t>
            </a:r>
          </a:p>
        </p:txBody>
      </p:sp>
    </p:spTree>
    <p:extLst>
      <p:ext uri="{BB962C8B-B14F-4D97-AF65-F5344CB8AC3E}">
        <p14:creationId xmlns:p14="http://schemas.microsoft.com/office/powerpoint/2010/main" val="3713546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4190</TotalTime>
  <Words>318</Words>
  <Application>Microsoft Office PowerPoint</Application>
  <PresentationFormat>사용자 지정</PresentationFormat>
  <Paragraphs>90</Paragraphs>
  <Slides>19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210 맨발의청춘 B</vt:lpstr>
      <vt:lpstr>210 맨발의청춘 L</vt:lpstr>
      <vt:lpstr>Calibri</vt:lpstr>
      <vt:lpstr>맑은 고딕</vt:lpstr>
      <vt:lpstr>Bandal</vt:lpstr>
      <vt:lpstr>210 맨발의청춘 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강화학습 환경: Frozen Lake</vt:lpstr>
      <vt:lpstr>1. 강화학습 환경: Frozen Lake</vt:lpstr>
      <vt:lpstr>2. Q-Table</vt:lpstr>
      <vt:lpstr>2. Q-Table</vt:lpstr>
      <vt:lpstr>2. Q-Table</vt:lpstr>
      <vt:lpstr>2. Q-Table</vt:lpstr>
      <vt:lpstr>3. Q-Learning</vt:lpstr>
      <vt:lpstr>3. Q-Learning</vt:lpstr>
      <vt:lpstr>3. Q-Learning</vt:lpstr>
      <vt:lpstr>3. Q-Learning</vt:lpstr>
      <vt:lpstr>4. ε-greedy</vt:lpstr>
      <vt:lpstr>4. ε-greedy</vt:lpstr>
      <vt:lpstr>4. ε-greedy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남현석</dc:creator>
  <cp:lastModifiedBy>남현석</cp:lastModifiedBy>
  <cp:revision>16</cp:revision>
  <dcterms:created xsi:type="dcterms:W3CDTF">2022-05-30T13:19:20Z</dcterms:created>
  <dcterms:modified xsi:type="dcterms:W3CDTF">2026-01-24T04:54:11Z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2022-05-30T00:00:00Z</vt:filetime>
  </property>
</Properties>
</file>