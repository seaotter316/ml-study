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323" r:id="rId18"/>
    <p:sldId id="275" r:id="rId19"/>
  </p:sldIdLst>
  <p:sldSz cx="18288000" cy="10287000"/>
  <p:notesSz cx="18288000" cy="10287000"/>
  <p:embeddedFontLst>
    <p:embeddedFont>
      <p:font typeface="210 맨발의청춘 B" panose="02020603020101020101" pitchFamily="18" charset="-127"/>
      <p:regular r:id="rId21"/>
    </p:embeddedFont>
    <p:embeddedFont>
      <p:font typeface="210 맨발의청춘 L" panose="02020603020101020101" pitchFamily="18" charset="-127"/>
      <p:regular r:id="rId22"/>
    </p:embeddedFont>
    <p:embeddedFont>
      <p:font typeface="210 맨발의청춘 R" panose="02020603020101020101" pitchFamily="18" charset="-127"/>
      <p:regular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EBE7D8"/>
    <a:srgbClr val="6699FF"/>
    <a:srgbClr val="253532"/>
    <a:srgbClr val="1D1C29"/>
    <a:srgbClr val="FF5050"/>
    <a:srgbClr val="FF7C80"/>
    <a:srgbClr val="EBE8D8"/>
    <a:srgbClr val="3D4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7" autoAdjust="0"/>
    <p:restoredTop sz="94660"/>
  </p:normalViewPr>
  <p:slideViewPr>
    <p:cSldViewPr>
      <p:cViewPr varScale="1">
        <p:scale>
          <a:sx n="70" d="100"/>
          <a:sy n="70" d="100"/>
        </p:scale>
        <p:origin x="2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3942-633E-49E1-BA04-F02517BD57C2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D2646-40CE-4580-93B3-C046C6404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6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FBD08-199E-2B6B-A7D4-CF902797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47A8FA-4751-CC87-5EBC-4F2030693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533864-54E9-8421-E05F-DEAD93B51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7E053-6B7F-DFB8-83FC-D0038F6A3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378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CED7-A869-09FF-6520-90F196E72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1637CC-8A5D-49E7-290F-4B83470D1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E5E306-2D4D-1B8C-19EC-A3FAD1B71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7987CD-7F6A-E3E2-B242-F1100BBA7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736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CF7E9-522C-6F12-1901-A232D081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6304E6-0603-4D09-073B-768EECA89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EC47BC-4867-700F-0A83-B5B6FF2A9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8A43F6-0189-C437-4ACF-82A7CC9B9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94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7E1E-22DC-2736-39D0-4138EEFE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B3F9B2-DA49-0496-D316-A268B9A42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BE95C3-72F5-9BCB-4661-3290931DB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4EBE0A-08CC-C952-B0D7-C2AD3EA99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46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EEE4-B752-1D78-6674-64D85C99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A6F613-6A57-84FD-933F-19CAEF6D1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D4F8D2-99AC-3FDB-9AAE-1A6F8FF62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E5B22-63D5-B6FC-919A-49CACCBDF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855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555D0-5408-DB14-8EFB-03819F68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197729-60C8-D76F-310A-443BF2295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4AC6D1-6AA6-04DB-87EC-771C895AC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EB4AB-2059-3052-FA9F-93BA64B84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844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6A8F-872F-022A-F809-526B5309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6AF5F6-6A41-CD36-A44F-53B3B788B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002916-97C0-631B-1418-865C3A654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039AB9-75D6-6773-EBEF-28144E97B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266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0FAD-AFDB-BAFD-C3B4-C07A18B4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E56676-6922-B296-B1BB-04B8381CB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F7BB01-DC06-FF33-0075-4F9A91337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4F77A8-2E47-E20B-48EC-22718BEA4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D2646-40CE-4580-93B3-C046C64048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15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622490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  <a:latin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0" b="0" i="0">
                <a:solidFill>
                  <a:srgbClr val="253432"/>
                </a:solidFill>
                <a:latin typeface="210 맨발의청춘 R" panose="02020603020101020101" pitchFamily="18" charset="-127"/>
                <a:cs typeface="210 맨발의청춘 R" panose="02020603020101020101" pitchFamily="18" charset="-127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BE7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622493"/>
            <a:ext cx="162560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0" i="0">
                <a:solidFill>
                  <a:srgbClr val="253432"/>
                </a:solidFill>
                <a:latin typeface="Bandal"/>
                <a:cs typeface="Band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210 맨발의청춘 B" panose="02020603020101020101" pitchFamily="18" charset="-127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1485900"/>
            <a:ext cx="13843000" cy="55531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altLang="ko-KR" sz="15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Deep RL</a:t>
            </a: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en-US" altLang="ko-KR" sz="2000" dirty="0">
                <a:solidFill>
                  <a:srgbClr val="253532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 </a:t>
            </a:r>
          </a:p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lang="ko-KR" altLang="en-US" sz="15000" dirty="0">
                <a:solidFill>
                  <a:srgbClr val="FF5050"/>
                </a:solidFill>
                <a:latin typeface="210 맨발의청춘 B" panose="02020603020101020101" pitchFamily="18" charset="-127"/>
                <a:ea typeface="210 맨발의청춘 B" panose="02020603020101020101" pitchFamily="18" charset="-127"/>
                <a:cs typeface="Bandal"/>
              </a:rPr>
              <a:t>입문 조지기</a:t>
            </a:r>
            <a:endParaRPr sz="15000" dirty="0">
              <a:solidFill>
                <a:srgbClr val="FF5050"/>
              </a:solidFill>
              <a:latin typeface="210 맨발의청춘 B" panose="02020603020101020101" pitchFamily="18" charset="-127"/>
              <a:ea typeface="210 맨발의청춘 B" panose="02020603020101020101" pitchFamily="18" charset="-127"/>
              <a:cs typeface="Band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8191500"/>
            <a:ext cx="1577340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4500" spc="50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2025-13333 </a:t>
            </a:r>
            <a:r>
              <a:rPr lang="ko-KR" altLang="en-US" sz="4500" spc="50" dirty="0">
                <a:solidFill>
                  <a:srgbClr val="253532"/>
                </a:solidFill>
                <a:uFill>
                  <a:solidFill>
                    <a:srgbClr val="253432"/>
                  </a:solidFill>
                </a:uFill>
                <a:latin typeface="210 맨발의청춘 L" panose="02020603020101020101" pitchFamily="18" charset="-127"/>
                <a:ea typeface="210 맨발의청춘 L" panose="02020603020101020101" pitchFamily="18" charset="-127"/>
                <a:cs typeface="Noto Sans CJK JP Light"/>
              </a:rPr>
              <a:t>남현석</a:t>
            </a:r>
            <a:endParaRPr sz="45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  <a:cs typeface="Noto Sans CJK JP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EF84-DA14-2588-A968-CE438C3B3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7F08F-28C7-4C2D-2162-249FA23B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DE8887-817B-F0E0-F658-BDF66A66C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21D53-8366-2DBD-05E6-76C439DBB78C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EE43E5-67D1-DE39-288F-7A845A5329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Q-Table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을 활용하던</a:t>
            </a:r>
            <a:endParaRPr lang="en-US" altLang="ko-KR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RL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의 문제점</a:t>
            </a: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?</a:t>
            </a:r>
            <a:endParaRPr lang="ko-KR" altLang="en-US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520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3D5B-D7BE-2EF2-32C8-F873CD184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17B16-8BA0-E85C-C834-9D16BB12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A831FD-C08E-B9CC-A156-E8FDD166C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AB48F-C678-8232-9A40-9C2F2B0B25B8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416A90-636B-61A6-B022-5DB5B3A8DB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Q-Table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을 활용하던</a:t>
            </a:r>
            <a:endParaRPr lang="en-US" altLang="ko-KR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RL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의 문제점</a:t>
            </a: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?</a:t>
            </a:r>
            <a:endParaRPr lang="ko-KR" altLang="en-US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C74315-B76A-5281-4EBA-8C41B3837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12968"/>
            <a:ext cx="13792200" cy="609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74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5700E-9654-09C6-E401-AB1BCACA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5D7C4-31C3-40BC-EEAE-6D1E4B59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BEEC75-08BC-5D77-8FBE-09F02A4A3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E89E1-5BEA-7555-612C-68E53B8B7894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F00D9F-5E04-DFCC-CB08-4CDA674B8C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Q-Table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을 활용하던</a:t>
            </a:r>
            <a:endParaRPr lang="en-US" altLang="ko-KR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RL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의 문제점</a:t>
            </a: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?</a:t>
            </a:r>
            <a:endParaRPr lang="ko-KR" altLang="en-US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5F636C-1956-32BB-3436-F32100A18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2096525"/>
            <a:ext cx="13792200" cy="609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253A93-4C5D-49ED-E18B-D29F04695A6E}"/>
              </a:ext>
            </a:extLst>
          </p:cNvPr>
          <p:cNvSpPr txBox="1"/>
          <p:nvPr/>
        </p:nvSpPr>
        <p:spPr>
          <a:xfrm>
            <a:off x="4800600" y="8756694"/>
            <a:ext cx="93025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대부분 현실의 문제들</a:t>
            </a:r>
            <a:r>
              <a:rPr lang="en-US" altLang="ko-KR" sz="4000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</a:t>
            </a:r>
            <a:r>
              <a:rPr lang="ko-KR" altLang="en-US" sz="4000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4000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4000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의 개수</a:t>
            </a:r>
            <a:r>
              <a:rPr lang="en-US" altLang="ko-KR" sz="4000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-&gt; </a:t>
            </a:r>
            <a:r>
              <a:rPr lang="en-US" altLang="ko-KR" sz="5000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66053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43F2-9381-E94A-1491-21E3B18B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83207D7-6DD9-354B-0AB8-516FEB610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Deep RL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을 그래서 왜 쓰냐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?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CA2FA-F39D-8AD5-7ABA-2E4DE72C0458}"/>
              </a:ext>
            </a:extLst>
          </p:cNvPr>
          <p:cNvSpPr txBox="1"/>
          <p:nvPr/>
        </p:nvSpPr>
        <p:spPr>
          <a:xfrm>
            <a:off x="1141803" y="3619500"/>
            <a:ext cx="16256373" cy="46320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기존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RL: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모든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및 해당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에서 가능한 모든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action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을 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table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 넣음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Deep RL: 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신경망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으로 학습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→ 주어진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에서 주요한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feature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만 뽑아서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해당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를 분석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3597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9B37-F54B-7B3C-CFAD-0308BAFA1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C185819-2D56-E834-8E3B-D6AC21A7B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Deep RL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을 그래서 왜 쓰냐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?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45138-B6DA-C8FC-46E2-57335C681A4A}"/>
              </a:ext>
            </a:extLst>
          </p:cNvPr>
          <p:cNvSpPr txBox="1"/>
          <p:nvPr/>
        </p:nvSpPr>
        <p:spPr>
          <a:xfrm>
            <a:off x="1141803" y="3619500"/>
            <a:ext cx="16256373" cy="6478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기존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RL: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모든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및 해당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에서 가능한 모든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action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을 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table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 넣음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Deep RL: 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신경망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으로 학습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→ 주어진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에서 주요한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feature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만 뽑아서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해당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를 분석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C57558-509D-9814-4023-68661B70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681637"/>
            <a:ext cx="10744200" cy="63713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EE7D78-23E8-D920-5583-3EBFC96415FC}"/>
              </a:ext>
            </a:extLst>
          </p:cNvPr>
          <p:cNvSpPr txBox="1"/>
          <p:nvPr/>
        </p:nvSpPr>
        <p:spPr>
          <a:xfrm>
            <a:off x="1387852" y="8204145"/>
            <a:ext cx="1482649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ex.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구글이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Atari 2600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게임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DQN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 사용한 파라미터 개수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1792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개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실제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개수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256^28228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84526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544A-9E72-1688-B89A-BA656624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2F82516-FBE9-1E7B-49E9-08A682429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1. Deep RL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을 그래서 왜 쓰냐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?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809E8-29AC-E22E-97D1-C73D688BBD82}"/>
              </a:ext>
            </a:extLst>
          </p:cNvPr>
          <p:cNvSpPr txBox="1"/>
          <p:nvPr/>
        </p:nvSpPr>
        <p:spPr>
          <a:xfrm>
            <a:off x="1141803" y="3619500"/>
            <a:ext cx="16685978" cy="6478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기존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RL: </a:t>
            </a:r>
            <a:r>
              <a:rPr lang="en-US" altLang="ko-KR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Q-table</a:t>
            </a:r>
            <a:r>
              <a:rPr lang="ko-KR" altLang="en-US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사용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, (state, action)-&gt; Q-value</a:t>
            </a: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Deep RL: </a:t>
            </a:r>
            <a:r>
              <a:rPr lang="ko-KR" altLang="en-US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신경망 사용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, state -&gt;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action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Q-value</a:t>
            </a: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(state, action) -&gt; Q-value</a:t>
            </a:r>
            <a:r>
              <a:rPr lang="ko-KR" alt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로 학습하면 실행 시 신경망 입장에서 </a:t>
            </a:r>
            <a:r>
              <a:rPr lang="ko-KR" altLang="en-US" sz="4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계산량</a:t>
            </a:r>
            <a:r>
              <a:rPr lang="ko-KR" alt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↑</a:t>
            </a:r>
            <a:endParaRPr lang="en-US" altLang="ko-KR" sz="4000" dirty="0">
              <a:solidFill>
                <a:schemeClr val="tx1">
                  <a:lumMod val="50000"/>
                  <a:lumOff val="50000"/>
                </a:schemeClr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156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77879-B34A-91F0-E742-E7582D3F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ECC3C-C358-DE87-8469-6BD0D155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CC215-63C6-95FA-2877-298A3E86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C7F38-C1B1-D563-AB39-C68DC4531DEF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692CDC-A460-D903-9B43-6C03A5C5CF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결국 </a:t>
            </a:r>
            <a:r>
              <a:rPr lang="ko-KR" altLang="en-US" sz="10000" b="1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조오오오온나</a:t>
            </a:r>
            <a:r>
              <a:rPr lang="ko-KR" altLang="en-US" sz="10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10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많은 </a:t>
            </a:r>
            <a:r>
              <a:rPr lang="en-US" altLang="ko-KR" sz="10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</a:t>
            </a:r>
            <a:r>
              <a:rPr lang="ko-KR" altLang="en-US" sz="10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를</a:t>
            </a:r>
            <a:endParaRPr lang="en-US" altLang="ko-KR" sz="10000" b="1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꼭 거치지 않더라도</a:t>
            </a:r>
            <a:endParaRPr lang="en-US" altLang="ko-KR" sz="10000" b="1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각 </a:t>
            </a:r>
            <a:r>
              <a:rPr lang="en-US" altLang="ko-KR" sz="10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action</a:t>
            </a:r>
            <a:r>
              <a:rPr lang="ko-KR" altLang="en-US" sz="10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얼마나 </a:t>
            </a:r>
            <a:r>
              <a:rPr lang="ko-KR" altLang="en-US" sz="10000" b="1" dirty="0" err="1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좋은지</a:t>
            </a:r>
            <a:endParaRPr lang="en-US" altLang="ko-KR" sz="10000" b="1" dirty="0">
              <a:solidFill>
                <a:srgbClr val="FFCC66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학습시키기 위해</a:t>
            </a:r>
          </a:p>
        </p:txBody>
      </p:sp>
    </p:spTree>
    <p:extLst>
      <p:ext uri="{BB962C8B-B14F-4D97-AF65-F5344CB8AC3E}">
        <p14:creationId xmlns:p14="http://schemas.microsoft.com/office/powerpoint/2010/main" val="2297426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C2B71-58CE-99A2-4D58-6033EE8C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177B946-DDEC-CDB7-F882-7257155D67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Q-network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EACE9-0F03-8561-903B-7B5124A47956}"/>
              </a:ext>
            </a:extLst>
          </p:cNvPr>
          <p:cNvSpPr txBox="1"/>
          <p:nvPr/>
        </p:nvSpPr>
        <p:spPr>
          <a:xfrm>
            <a:off x="5063395" y="3086100"/>
            <a:ext cx="8161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기존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Q-function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을 신경망으로 구현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45481B6-3A4D-4930-CBF5-CE1AC7B8E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152900"/>
            <a:ext cx="10963275" cy="5621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54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35D9-5117-A354-82C4-CBC04807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9DA3E-63A3-1F63-E715-A6E918A7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852AE2-5E6D-8255-BA01-9F90EFE6D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D2844-0DAA-945B-0901-4500F1959B61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7CCA27-478B-DD07-25FD-B9A58B5E3C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잠깐</a:t>
            </a: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! </a:t>
            </a:r>
            <a:r>
              <a:rPr lang="en-US" altLang="ko-KR" sz="12000" b="1" dirty="0" err="1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CartPole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이란</a:t>
            </a: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?</a:t>
            </a:r>
            <a:endParaRPr lang="ko-KR" altLang="en-US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87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AF5E-D754-F484-7AC4-87653806A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28AA6-F795-6242-B6B9-C6A431A4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E6EFF6-3921-BBB7-9BF6-FEB07E25C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898C5-462A-B4E9-FB2B-AD6AE1DC13E7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23CE8B-8F12-8C6E-717D-41400C1726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잠깐</a:t>
            </a: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! </a:t>
            </a:r>
            <a:r>
              <a:rPr lang="en-US" altLang="ko-KR" sz="12000" b="1" dirty="0" err="1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CartPole</a:t>
            </a:r>
            <a:r>
              <a:rPr lang="ko-KR" altLang="en-US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이란</a:t>
            </a:r>
            <a:r>
              <a:rPr lang="en-US" altLang="ko-KR" sz="12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?</a:t>
            </a:r>
            <a:endParaRPr lang="ko-KR" altLang="en-US" sz="12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pic>
        <p:nvPicPr>
          <p:cNvPr id="4098" name="Picture 2" descr="OpenAI gym Cartpole | Jonghyun Ho">
            <a:extLst>
              <a:ext uri="{FF2B5EF4-FFF2-40B4-BE49-F238E27FC236}">
                <a16:creationId xmlns:a16="http://schemas.microsoft.com/office/drawing/2014/main" id="{CE4504DA-5308-E592-890F-BDCB13C3F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666092"/>
            <a:ext cx="9017000" cy="603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E1FC8A-B4C2-4C94-E4E1-73ACCA6A63CF}"/>
              </a:ext>
            </a:extLst>
          </p:cNvPr>
          <p:cNvSpPr txBox="1"/>
          <p:nvPr/>
        </p:nvSpPr>
        <p:spPr>
          <a:xfrm>
            <a:off x="6172200" y="7076900"/>
            <a:ext cx="572464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state: </a:t>
            </a:r>
            <a:r>
              <a:rPr lang="ko-KR" altLang="en-US" sz="4000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조오오온나게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많다</a:t>
            </a:r>
            <a:endParaRPr lang="en-US" altLang="ko-KR" sz="4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action: 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왼쪽</a:t>
            </a:r>
            <a:r>
              <a:rPr lang="en-US" altLang="ko-KR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/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오른쪽 </a:t>
            </a:r>
            <a:r>
              <a:rPr lang="en-US" altLang="ko-KR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2</a:t>
            </a:r>
            <a:r>
              <a:rPr lang="ko-KR" altLang="en-US" sz="4000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개</a:t>
            </a:r>
            <a:endParaRPr lang="en-US" altLang="ko-KR" sz="4000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031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C007-DEBD-9406-E564-E63F4F945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7914146-99F0-E76E-6708-B1922AE9EF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Q-network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3AA9B78-EE1B-B362-06C6-BD34922E0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2" y="2933700"/>
            <a:ext cx="10963275" cy="5621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A76C7D-98A5-A6FB-7775-B10C485FEC4E}"/>
              </a:ext>
            </a:extLst>
          </p:cNvPr>
          <p:cNvSpPr txBox="1"/>
          <p:nvPr/>
        </p:nvSpPr>
        <p:spPr>
          <a:xfrm>
            <a:off x="1113831" y="4578096"/>
            <a:ext cx="21691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카트 위치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2" name="곱하기 기호 1">
            <a:extLst>
              <a:ext uri="{FF2B5EF4-FFF2-40B4-BE49-F238E27FC236}">
                <a16:creationId xmlns:a16="http://schemas.microsoft.com/office/drawing/2014/main" id="{87E5E2D4-F92D-2362-9D93-52A3951A1411}"/>
              </a:ext>
            </a:extLst>
          </p:cNvPr>
          <p:cNvSpPr/>
          <p:nvPr/>
        </p:nvSpPr>
        <p:spPr>
          <a:xfrm>
            <a:off x="5257800" y="3526332"/>
            <a:ext cx="1066800" cy="1083768"/>
          </a:xfrm>
          <a:prstGeom prst="mathMultiply">
            <a:avLst>
              <a:gd name="adj1" fmla="val 10429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A1FD9-8D32-9206-E42E-DAD598D48FC1}"/>
              </a:ext>
            </a:extLst>
          </p:cNvPr>
          <p:cNvSpPr txBox="1"/>
          <p:nvPr/>
        </p:nvSpPr>
        <p:spPr>
          <a:xfrm>
            <a:off x="1113831" y="5440298"/>
            <a:ext cx="21691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카트 속도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24A49-B14D-6994-68D5-A5D4DD87A073}"/>
              </a:ext>
            </a:extLst>
          </p:cNvPr>
          <p:cNvSpPr txBox="1"/>
          <p:nvPr/>
        </p:nvSpPr>
        <p:spPr>
          <a:xfrm>
            <a:off x="1113831" y="6302500"/>
            <a:ext cx="21691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막대 각도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EFB33-0F7C-4A0F-FE5A-6307ECE8BB69}"/>
              </a:ext>
            </a:extLst>
          </p:cNvPr>
          <p:cNvSpPr txBox="1"/>
          <p:nvPr/>
        </p:nvSpPr>
        <p:spPr>
          <a:xfrm>
            <a:off x="1113831" y="7164702"/>
            <a:ext cx="2630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막대 각속도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7FC368CE-0B3A-F647-00CB-A113F0BAC328}"/>
              </a:ext>
            </a:extLst>
          </p:cNvPr>
          <p:cNvSpPr/>
          <p:nvPr/>
        </p:nvSpPr>
        <p:spPr>
          <a:xfrm>
            <a:off x="11981690" y="4091076"/>
            <a:ext cx="1066800" cy="1083768"/>
          </a:xfrm>
          <a:prstGeom prst="mathMultiply">
            <a:avLst>
              <a:gd name="adj1" fmla="val 10429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곱하기 기호 9">
            <a:extLst>
              <a:ext uri="{FF2B5EF4-FFF2-40B4-BE49-F238E27FC236}">
                <a16:creationId xmlns:a16="http://schemas.microsoft.com/office/drawing/2014/main" id="{45CDC9EB-6C30-859C-719D-0B731C82C7AB}"/>
              </a:ext>
            </a:extLst>
          </p:cNvPr>
          <p:cNvSpPr/>
          <p:nvPr/>
        </p:nvSpPr>
        <p:spPr>
          <a:xfrm>
            <a:off x="11972546" y="4938038"/>
            <a:ext cx="1066800" cy="1083768"/>
          </a:xfrm>
          <a:prstGeom prst="mathMultiply">
            <a:avLst>
              <a:gd name="adj1" fmla="val 10429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854A7-D316-9C96-872C-8B69607EF105}"/>
              </a:ext>
            </a:extLst>
          </p:cNvPr>
          <p:cNvSpPr txBox="1"/>
          <p:nvPr/>
        </p:nvSpPr>
        <p:spPr>
          <a:xfrm>
            <a:off x="14864784" y="5997325"/>
            <a:ext cx="20938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왼쪽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30AA3-DCF8-BCFA-2E5E-24D83970396A}"/>
              </a:ext>
            </a:extLst>
          </p:cNvPr>
          <p:cNvSpPr txBox="1"/>
          <p:nvPr/>
        </p:nvSpPr>
        <p:spPr>
          <a:xfrm>
            <a:off x="14864784" y="6842763"/>
            <a:ext cx="2555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오른쪽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2DC1AE-1A04-2D55-EF7A-33C4E66EB8D1}"/>
              </a:ext>
            </a:extLst>
          </p:cNvPr>
          <p:cNvSpPr txBox="1"/>
          <p:nvPr/>
        </p:nvSpPr>
        <p:spPr>
          <a:xfrm>
            <a:off x="7543800" y="8980557"/>
            <a:ext cx="3536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hidden layer</a:t>
            </a:r>
          </a:p>
        </p:txBody>
      </p:sp>
    </p:spTree>
    <p:extLst>
      <p:ext uri="{BB962C8B-B14F-4D97-AF65-F5344CB8AC3E}">
        <p14:creationId xmlns:p14="http://schemas.microsoft.com/office/powerpoint/2010/main" val="3895063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C60EB-EF1C-EA02-321B-C8B9F89C8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E451141-D689-A8C8-F234-A8D607182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2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Q-network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977C772-313F-D9A9-91E5-C5B1ABC4A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25" y="2976568"/>
            <a:ext cx="10963275" cy="5621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07066A-B444-B9BB-EC2E-40D0D28675D7}"/>
              </a:ext>
            </a:extLst>
          </p:cNvPr>
          <p:cNvSpPr txBox="1"/>
          <p:nvPr/>
        </p:nvSpPr>
        <p:spPr>
          <a:xfrm>
            <a:off x="204194" y="4620964"/>
            <a:ext cx="21691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카트 위치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2" name="곱하기 기호 1">
            <a:extLst>
              <a:ext uri="{FF2B5EF4-FFF2-40B4-BE49-F238E27FC236}">
                <a16:creationId xmlns:a16="http://schemas.microsoft.com/office/drawing/2014/main" id="{239FB2C8-74C0-FA26-A411-315C30B56E99}"/>
              </a:ext>
            </a:extLst>
          </p:cNvPr>
          <p:cNvSpPr/>
          <p:nvPr/>
        </p:nvSpPr>
        <p:spPr>
          <a:xfrm>
            <a:off x="4348163" y="3569200"/>
            <a:ext cx="1066800" cy="1083768"/>
          </a:xfrm>
          <a:prstGeom prst="mathMultiply">
            <a:avLst>
              <a:gd name="adj1" fmla="val 10429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EE74F-4937-6F39-7A4D-64A924FD3A33}"/>
              </a:ext>
            </a:extLst>
          </p:cNvPr>
          <p:cNvSpPr txBox="1"/>
          <p:nvPr/>
        </p:nvSpPr>
        <p:spPr>
          <a:xfrm>
            <a:off x="204194" y="5483166"/>
            <a:ext cx="21691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카트 속도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6FA72-D466-3119-F38A-C6BBE1EC02CC}"/>
              </a:ext>
            </a:extLst>
          </p:cNvPr>
          <p:cNvSpPr txBox="1"/>
          <p:nvPr/>
        </p:nvSpPr>
        <p:spPr>
          <a:xfrm>
            <a:off x="204194" y="6345368"/>
            <a:ext cx="21691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막대 각도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82BED-74F4-F20A-B0F3-FBE971A9AA67}"/>
              </a:ext>
            </a:extLst>
          </p:cNvPr>
          <p:cNvSpPr txBox="1"/>
          <p:nvPr/>
        </p:nvSpPr>
        <p:spPr>
          <a:xfrm>
            <a:off x="204194" y="7207570"/>
            <a:ext cx="2630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막대 각속도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B2CE0443-6B4B-8CCC-AF33-86909372B892}"/>
              </a:ext>
            </a:extLst>
          </p:cNvPr>
          <p:cNvSpPr/>
          <p:nvPr/>
        </p:nvSpPr>
        <p:spPr>
          <a:xfrm>
            <a:off x="11072053" y="4133944"/>
            <a:ext cx="1066800" cy="1083768"/>
          </a:xfrm>
          <a:prstGeom prst="mathMultiply">
            <a:avLst>
              <a:gd name="adj1" fmla="val 10429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곱하기 기호 9">
            <a:extLst>
              <a:ext uri="{FF2B5EF4-FFF2-40B4-BE49-F238E27FC236}">
                <a16:creationId xmlns:a16="http://schemas.microsoft.com/office/drawing/2014/main" id="{2EB36BFE-3E9C-570F-D2B7-25F9A59583B6}"/>
              </a:ext>
            </a:extLst>
          </p:cNvPr>
          <p:cNvSpPr/>
          <p:nvPr/>
        </p:nvSpPr>
        <p:spPr>
          <a:xfrm>
            <a:off x="11062909" y="4980906"/>
            <a:ext cx="1066800" cy="1083768"/>
          </a:xfrm>
          <a:prstGeom prst="mathMultiply">
            <a:avLst>
              <a:gd name="adj1" fmla="val 10429"/>
            </a:avLst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1E6A3-FA12-B8C4-BA68-D2C4E5300564}"/>
              </a:ext>
            </a:extLst>
          </p:cNvPr>
          <p:cNvSpPr txBox="1"/>
          <p:nvPr/>
        </p:nvSpPr>
        <p:spPr>
          <a:xfrm>
            <a:off x="13955147" y="6040193"/>
            <a:ext cx="20938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왼쪽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9F8897-C2CC-FDFD-0625-884CE5950D5E}"/>
              </a:ext>
            </a:extLst>
          </p:cNvPr>
          <p:cNvSpPr txBox="1"/>
          <p:nvPr/>
        </p:nvSpPr>
        <p:spPr>
          <a:xfrm>
            <a:off x="13955147" y="6885631"/>
            <a:ext cx="2555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오른쪽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D52D9-2957-A7F9-D5EF-471FACD57ECF}"/>
              </a:ext>
            </a:extLst>
          </p:cNvPr>
          <p:cNvSpPr txBox="1"/>
          <p:nvPr/>
        </p:nvSpPr>
        <p:spPr>
          <a:xfrm>
            <a:off x="6634163" y="9023425"/>
            <a:ext cx="3536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hidden layer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DA44E-C595-332C-0B8C-0CADE7C5C60A}"/>
              </a:ext>
            </a:extLst>
          </p:cNvPr>
          <p:cNvSpPr txBox="1"/>
          <p:nvPr/>
        </p:nvSpPr>
        <p:spPr>
          <a:xfrm>
            <a:off x="10896600" y="1985966"/>
            <a:ext cx="67890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*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마지막에 </a:t>
            </a:r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, </a:t>
            </a:r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softmax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는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/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쓰지 않음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714EE1-0378-074D-A145-713FBE3DB7FB}"/>
              </a:ext>
            </a:extLst>
          </p:cNvPr>
          <p:cNvSpPr/>
          <p:nvPr/>
        </p:nvSpPr>
        <p:spPr>
          <a:xfrm>
            <a:off x="10591800" y="952500"/>
            <a:ext cx="7620000" cy="2895600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24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1F06-DF64-A517-1008-DB5E5E7B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F2FA8A9-A7AF-E8A8-569A-007377F248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3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분류 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&lt;-&gt; 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회귀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413D84-6C2D-8EFD-C235-27FFB23589BE}"/>
              </a:ext>
            </a:extLst>
          </p:cNvPr>
          <p:cNvSpPr txBox="1"/>
          <p:nvPr/>
        </p:nvSpPr>
        <p:spPr>
          <a:xfrm>
            <a:off x="1141803" y="3619500"/>
            <a:ext cx="14765581" cy="46320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분류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(MNIST, CNN):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출력층에 </a:t>
            </a:r>
            <a:r>
              <a:rPr lang="en-US" altLang="ko-KR" sz="4000" dirty="0" err="1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Softmax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를 사용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우리가 원하는 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정답의 형태가 확률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이기에 합이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1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되도록 조작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회귀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(Q-network):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출력층에 </a:t>
            </a:r>
            <a:r>
              <a:rPr lang="ko-KR" altLang="en-US" sz="4000" dirty="0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아무것도 안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사용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=&gt;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가치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(Q-value)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는 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제약</a:t>
            </a:r>
            <a:r>
              <a:rPr lang="en-US" altLang="ko-KR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(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최솟값 </a:t>
            </a:r>
            <a:r>
              <a:rPr lang="en-US" altLang="ko-KR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or 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최댓값</a:t>
            </a:r>
            <a:r>
              <a:rPr lang="en-US" altLang="ko-KR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)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없기 때문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08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3A33-E367-7B80-AF4C-0DE47931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6A3A35A-DB8C-6688-B301-6521CC42E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52500"/>
            <a:ext cx="12801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000" spc="-95" dirty="0">
                <a:solidFill>
                  <a:srgbClr val="253532"/>
                </a:solidFill>
                <a:ea typeface="210 맨발의청춘 R" panose="02020603020101020101" pitchFamily="18" charset="-127"/>
              </a:rPr>
              <a:t>3</a:t>
            </a:r>
            <a:r>
              <a:rPr 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. 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분류 </a:t>
            </a:r>
            <a:r>
              <a:rPr lang="en-US" altLang="ko-KR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&lt;-&gt; </a:t>
            </a:r>
            <a:r>
              <a:rPr lang="ko-KR" altLang="en-US" sz="7000" spc="-95" dirty="0">
                <a:solidFill>
                  <a:srgbClr val="253532"/>
                </a:solidFill>
                <a:latin typeface="210 맨발의청춘 R" panose="02020603020101020101" pitchFamily="18" charset="-127"/>
                <a:ea typeface="210 맨발의청춘 R" panose="02020603020101020101" pitchFamily="18" charset="-127"/>
              </a:rPr>
              <a:t>회귀</a:t>
            </a:r>
            <a:endParaRPr sz="7000" spc="1805" dirty="0">
              <a:solidFill>
                <a:srgbClr val="253532"/>
              </a:solidFill>
              <a:latin typeface="210 맨발의청춘 R" panose="02020603020101020101" pitchFamily="18" charset="-127"/>
              <a:ea typeface="210 맨발의청춘 R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BE85B-68E2-93DF-8FB3-9E8BA268E7BA}"/>
              </a:ext>
            </a:extLst>
          </p:cNvPr>
          <p:cNvSpPr txBox="1"/>
          <p:nvPr/>
        </p:nvSpPr>
        <p:spPr>
          <a:xfrm>
            <a:off x="812232" y="2933700"/>
            <a:ext cx="16663536" cy="55553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회귀 출력층에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 err="1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Softmax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사용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오른쪽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+50,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왼쪽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+10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인데 </a:t>
            </a:r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softmax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때리면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		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오른쪽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0.99,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왼쪽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0.01 </a:t>
            </a:r>
            <a:r>
              <a:rPr lang="ko-KR" altLang="en-US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ㅇㅈㄹ됨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en-US" altLang="ko-KR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bellman 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방정식 못 씀</a:t>
            </a:r>
            <a:endParaRPr lang="en-US" altLang="ko-KR" sz="4000" dirty="0">
              <a:solidFill>
                <a:srgbClr val="6699FF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endParaRPr lang="en-US" altLang="ko-KR" sz="4000" dirty="0">
              <a:solidFill>
                <a:srgbClr val="6699FF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 err="1">
                <a:solidFill>
                  <a:srgbClr val="FF5050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사용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: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앞으로 이동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-100000,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왼쪽 이동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값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-1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인데 </a:t>
            </a:r>
            <a:r>
              <a:rPr lang="en-US" altLang="ko-KR" sz="4000" dirty="0" err="1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때리면</a:t>
            </a:r>
            <a:endParaRPr lang="en-US" altLang="ko-KR" sz="4000" dirty="0">
              <a:solidFill>
                <a:srgbClr val="253532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				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둘 다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0</a:t>
            </a:r>
            <a:r>
              <a:rPr lang="ko-KR" altLang="en-US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됨 </a:t>
            </a:r>
            <a:r>
              <a:rPr lang="en-US" altLang="ko-KR" sz="4000" dirty="0">
                <a:solidFill>
                  <a:srgbClr val="253532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=&gt; 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덜 </a:t>
            </a:r>
            <a:r>
              <a:rPr lang="ko-KR" altLang="en-US" sz="4000" dirty="0" err="1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ㅈ되는</a:t>
            </a:r>
            <a:r>
              <a:rPr lang="ko-KR" altLang="en-US" sz="4000" dirty="0">
                <a:solidFill>
                  <a:srgbClr val="6699FF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길을 찾을 수 없다</a:t>
            </a:r>
            <a:endParaRPr lang="en-US" altLang="ko-KR" sz="4000" dirty="0">
              <a:solidFill>
                <a:srgbClr val="6699FF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6617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EA15-2935-EE2E-79B5-D417BD2C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46031-59FA-989A-0A66-AA7B004F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DFBDC6-3D22-92E0-9393-1C8078BA6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63E56-9C7D-F85F-2EBA-55C8DBBC9C5B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C6048D-EE84-7D6E-40AF-984E56A24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당연히 </a:t>
            </a:r>
            <a:r>
              <a:rPr lang="en-US" altLang="ko-KR" sz="8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hidden layer</a:t>
            </a:r>
            <a:r>
              <a:rPr lang="ko-KR" altLang="en-US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에는</a:t>
            </a:r>
            <a:endParaRPr lang="en-US" altLang="ko-KR" sz="8000" b="1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한 층 지날 때마다</a:t>
            </a:r>
            <a:r>
              <a:rPr lang="en-US" altLang="ko-KR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8000" b="1" dirty="0" err="1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ReLU</a:t>
            </a:r>
            <a:r>
              <a:rPr lang="en-US" altLang="ko-KR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ko-KR" altLang="en-US" sz="8000" b="1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때려야함</a:t>
            </a:r>
            <a:r>
              <a:rPr lang="en-US" altLang="ko-KR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!!!!!!</a:t>
            </a:r>
          </a:p>
          <a:p>
            <a:pPr algn="ctr">
              <a:lnSpc>
                <a:spcPct val="150000"/>
              </a:lnSpc>
            </a:pPr>
            <a:endParaRPr lang="en-US" altLang="ko-KR" sz="8000" b="1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안 그럼 </a:t>
            </a:r>
            <a:r>
              <a:rPr lang="en-US" altLang="ko-KR" sz="8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</a:t>
            </a:r>
            <a:r>
              <a:rPr lang="en-US" altLang="ko-KR" sz="8000" b="1" dirty="0" err="1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funcion</a:t>
            </a:r>
            <a:r>
              <a:rPr lang="ko-KR" altLang="en-US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이 </a:t>
            </a:r>
            <a:r>
              <a:rPr lang="ko-KR" altLang="en-US" sz="8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선형 함수</a:t>
            </a:r>
            <a:r>
              <a:rPr lang="ko-KR" altLang="en-US" sz="8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가 </a:t>
            </a:r>
            <a:r>
              <a:rPr lang="ko-KR" altLang="en-US" sz="8000" b="1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되버림</a:t>
            </a:r>
            <a:endParaRPr lang="ko-KR" altLang="en-US" sz="8000" b="1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8988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CF88-81E4-84B2-AA5E-7D5164D4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D70F8-57B6-DEB5-F80F-4EC539EF0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326F1-5C2F-EA95-4623-A10301A86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9FB69-F3A6-F1A1-093A-2F0DCD230427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D0D9E9-5832-33EC-81F6-F2BE64DA89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나머지 학습은</a:t>
            </a:r>
            <a:endParaRPr lang="en-US" altLang="ko-KR" sz="10000" b="1" dirty="0">
              <a:solidFill>
                <a:srgbClr val="EBE7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0" b="1" dirty="0" err="1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저번주</a:t>
            </a:r>
            <a:r>
              <a:rPr lang="ko-KR" altLang="en-US" sz="10000" b="1" dirty="0">
                <a:solidFill>
                  <a:srgbClr val="EBE7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 </a:t>
            </a:r>
            <a:r>
              <a:rPr lang="en-US" altLang="ko-KR" sz="10000" b="1" dirty="0">
                <a:solidFill>
                  <a:srgbClr val="FFCC66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Q-learning</a:t>
            </a:r>
            <a:r>
              <a:rPr lang="ko-KR" altLang="en-US" sz="10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과 동일</a:t>
            </a:r>
          </a:p>
        </p:txBody>
      </p:sp>
    </p:spTree>
    <p:extLst>
      <p:ext uri="{BB962C8B-B14F-4D97-AF65-F5344CB8AC3E}">
        <p14:creationId xmlns:p14="http://schemas.microsoft.com/office/powerpoint/2010/main" val="3810475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0664F-67EB-754D-828F-08643240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60454B-B21E-5A60-27E3-8844399DD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553998"/>
          </a:xfrm>
        </p:spPr>
        <p:txBody>
          <a:bodyPr/>
          <a:lstStyle/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F9966-085F-780B-B58D-646FAE3BF43D}"/>
              </a:ext>
            </a:extLst>
          </p:cNvPr>
          <p:cNvSpPr txBox="1"/>
          <p:nvPr/>
        </p:nvSpPr>
        <p:spPr>
          <a:xfrm>
            <a:off x="4572000" y="495994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09F57C-7E6D-7670-D2F8-F11D4CA8AF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53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0" b="1" dirty="0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코드 </a:t>
            </a:r>
            <a:r>
              <a:rPr lang="ko-KR" altLang="en-US" sz="16000" b="1" dirty="0" err="1">
                <a:solidFill>
                  <a:srgbClr val="EBE8D8"/>
                </a:solidFill>
                <a:latin typeface="210 맨발의청춘 L" panose="02020603020101020101" pitchFamily="18" charset="-127"/>
                <a:ea typeface="210 맨발의청춘 L" panose="02020603020101020101" pitchFamily="18" charset="-127"/>
              </a:rPr>
              <a:t>ㄱㄱ</a:t>
            </a:r>
            <a:endParaRPr lang="ko-KR" altLang="en-US" sz="16000" b="1" dirty="0">
              <a:solidFill>
                <a:srgbClr val="EBE8D8"/>
              </a:solidFill>
              <a:latin typeface="210 맨발의청춘 L" panose="02020603020101020101" pitchFamily="18" charset="-127"/>
              <a:ea typeface="210 맨발의청춘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354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4231</TotalTime>
  <Words>447</Words>
  <Application>Microsoft Office PowerPoint</Application>
  <PresentationFormat>사용자 지정</PresentationFormat>
  <Paragraphs>87</Paragraphs>
  <Slides>18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210 맨발의청춘 L</vt:lpstr>
      <vt:lpstr>210 맨발의청춘 B</vt:lpstr>
      <vt:lpstr>맑은 고딕</vt:lpstr>
      <vt:lpstr>Bandal</vt:lpstr>
      <vt:lpstr>210 맨발의청춘 R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1. Deep RL을 그래서 왜 쓰냐?</vt:lpstr>
      <vt:lpstr>1. Deep RL을 그래서 왜 쓰냐?</vt:lpstr>
      <vt:lpstr>1. Deep RL을 그래서 왜 쓰냐?</vt:lpstr>
      <vt:lpstr>PowerPoint 프레젠테이션</vt:lpstr>
      <vt:lpstr>2. Q-network</vt:lpstr>
      <vt:lpstr>PowerPoint 프레젠테이션</vt:lpstr>
      <vt:lpstr>PowerPoint 프레젠테이션</vt:lpstr>
      <vt:lpstr>2. Q-network</vt:lpstr>
      <vt:lpstr>2. Q-network</vt:lpstr>
      <vt:lpstr>3. 분류 &lt;-&gt; 회귀</vt:lpstr>
      <vt:lpstr>3. 분류 &lt;-&gt; 회귀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남현석</dc:creator>
  <cp:lastModifiedBy>남현석</cp:lastModifiedBy>
  <cp:revision>20</cp:revision>
  <dcterms:created xsi:type="dcterms:W3CDTF">2022-05-30T13:19:20Z</dcterms:created>
  <dcterms:modified xsi:type="dcterms:W3CDTF">2026-02-20T08:51:30Z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2022-05-30T00:00:00Z</vt:filetime>
  </property>
</Properties>
</file>