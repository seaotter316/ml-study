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77" r:id="rId3"/>
    <p:sldId id="278" r:id="rId4"/>
    <p:sldId id="279" r:id="rId5"/>
    <p:sldId id="276" r:id="rId6"/>
    <p:sldId id="281" r:id="rId7"/>
    <p:sldId id="282" r:id="rId8"/>
    <p:sldId id="284" r:id="rId9"/>
    <p:sldId id="280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75" r:id="rId22"/>
  </p:sldIdLst>
  <p:sldSz cx="18288000" cy="10287000"/>
  <p:notesSz cx="18288000" cy="10287000"/>
  <p:embeddedFontLst>
    <p:embeddedFont>
      <p:font typeface="210 맨발의청춘 B" panose="02020603020101020101" pitchFamily="18" charset="-127"/>
      <p:regular r:id="rId24"/>
    </p:embeddedFont>
    <p:embeddedFont>
      <p:font typeface="210 맨발의청춘 L" panose="02020603020101020101" pitchFamily="18" charset="-127"/>
      <p:regular r:id="rId25"/>
    </p:embeddedFont>
    <p:embeddedFont>
      <p:font typeface="210 맨발의청춘 R" panose="02020603020101020101" pitchFamily="18" charset="-127"/>
      <p:regular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F7C80"/>
    <a:srgbClr val="FFCC66"/>
    <a:srgbClr val="EBE7D8"/>
    <a:srgbClr val="1D1C29"/>
    <a:srgbClr val="EBE8D8"/>
    <a:srgbClr val="253532"/>
    <a:srgbClr val="3D47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7" autoAdjust="0"/>
    <p:restoredTop sz="94660"/>
  </p:normalViewPr>
  <p:slideViewPr>
    <p:cSldViewPr>
      <p:cViewPr varScale="1">
        <p:scale>
          <a:sx n="70" d="100"/>
          <a:sy n="70" d="100"/>
        </p:scale>
        <p:origin x="25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93942-633E-49E1-BA04-F02517BD57C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D2646-40CE-4580-93B3-C046C6404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61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FE572-9D28-A491-F9E3-0C6D101F8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C053E9-D542-FEFD-A6DB-F0C1B54D4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3EACEF-79F0-2BF8-5427-7833ED79B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06B746-E732-064A-C4BD-10FCE1D3D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942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D2CC-49C0-B1D1-394B-CABDD996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F57C40-2B79-C884-AC28-F76D27688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BE43FF-215A-8B08-8240-615AE1BB1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3397B2-CCEC-B9A5-53E4-E5AF71798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463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6DFE5-14A4-9C54-C4F8-E8FA606E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AA9A9F-487C-FBD2-192B-8A5262B69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D8C813-BC3E-3FD1-0456-0F77DA438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7B96E7-6D9F-E010-5D40-A6A8862B4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792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303A8-DA80-9AFB-74F9-1EFD43B3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385C7F-75CB-4899-A0AD-0AC08E02A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289364-3D8A-50E1-E1D9-175AE6A1E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6BA3E9-969A-7A87-A6E5-CA3CE1007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475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B3D01-EFD6-69AD-7A41-1BA1AEE55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ECD16A-0AAE-7ADC-91D1-C6E2641E4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89C8CA-DFA3-000A-8535-620E2E2CE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3BC5B2-2A08-67C6-BAF3-5ABEB11AF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53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552BD-2CEA-4264-6C95-1BD2B135A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6414C9-919F-4D67-A57E-89C4B96DD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F42908-6E08-04F0-80B6-AB933827C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074421-7E0C-4FBF-DB35-71DC44B8E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442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287F1-9030-E153-3544-EDE4F305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FD422D-815D-353E-CC24-D4C2B45AA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6DFF24-D298-4B49-8309-6FF5FB895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BF2DE5-C8F1-02EA-AC13-0B383BB1B2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40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A375F-216B-CA6A-6534-9EE7C90DC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5CBBCE-03B1-699C-E652-855F19284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4D42A9-8620-458A-DABD-338FC65CF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8758C8-31D9-6F05-8243-3578F514F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831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3DA94-750E-605E-701D-7B67DACB6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04AA4C-9906-D7AE-6DDA-E545EB474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8C1C79-BD13-5C45-6D3D-4FCCAED45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16F709-5874-2DB1-9E9B-836969F40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030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010B0-A818-1918-6557-6784D0AD7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0504E1-8671-6A37-B66D-FD7DDFF40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DDAF3E-A5BF-E0E5-D0CA-68414666E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153B30-C6F5-ADB0-FCE7-D7ABEEBBD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852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622490"/>
            <a:ext cx="1625600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  <a:latin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0" i="0">
                <a:solidFill>
                  <a:srgbClr val="253432"/>
                </a:solidFill>
                <a:latin typeface="210 맨발의청춘 R" panose="02020603020101020101" pitchFamily="18" charset="-127"/>
                <a:cs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0" i="0">
                <a:solidFill>
                  <a:srgbClr val="253432"/>
                </a:solidFill>
                <a:latin typeface="210 맨발의청춘 R" panose="02020603020101020101" pitchFamily="18" charset="-127"/>
                <a:cs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0" i="0">
                <a:solidFill>
                  <a:srgbClr val="253432"/>
                </a:solidFill>
                <a:latin typeface="210 맨발의청춘 R" panose="02020603020101020101" pitchFamily="18" charset="-127"/>
                <a:cs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BE7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622493"/>
            <a:ext cx="1625600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0" b="0" i="0">
                <a:solidFill>
                  <a:srgbClr val="253432"/>
                </a:solidFill>
                <a:latin typeface="Bandal"/>
                <a:cs typeface="Band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210 맨발의청춘 B" panose="02020603020101020101" pitchFamily="18" charset="-127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velog.io/@seongguk/AI-CNNConvolutional-Neural-Network-%ED%95%99%EC%8A%B5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1485900"/>
            <a:ext cx="13843000" cy="55531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700"/>
              </a:lnSpc>
              <a:spcBef>
                <a:spcPts val="95"/>
              </a:spcBef>
            </a:pPr>
            <a:r>
              <a:rPr lang="en-US" altLang="ko-KR" sz="15000" dirty="0">
                <a:solidFill>
                  <a:srgbClr val="253532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CNN</a:t>
            </a:r>
          </a:p>
          <a:p>
            <a:pPr marL="12700" marR="5080">
              <a:lnSpc>
                <a:spcPct val="111700"/>
              </a:lnSpc>
              <a:spcBef>
                <a:spcPts val="95"/>
              </a:spcBef>
            </a:pPr>
            <a:r>
              <a:rPr lang="en-US" altLang="ko-KR" sz="2000" dirty="0">
                <a:solidFill>
                  <a:srgbClr val="253532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 </a:t>
            </a:r>
          </a:p>
          <a:p>
            <a:pPr marL="12700" marR="5080">
              <a:lnSpc>
                <a:spcPct val="111700"/>
              </a:lnSpc>
              <a:spcBef>
                <a:spcPts val="95"/>
              </a:spcBef>
            </a:pPr>
            <a:r>
              <a:rPr lang="ko-KR" altLang="en-US" sz="15000" dirty="0">
                <a:solidFill>
                  <a:srgbClr val="FF5050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이  </a:t>
            </a:r>
            <a:r>
              <a:rPr lang="ko-KR" altLang="en-US" sz="15000" dirty="0" err="1">
                <a:solidFill>
                  <a:srgbClr val="FF5050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란무</a:t>
            </a:r>
            <a:r>
              <a:rPr lang="ko-KR" altLang="en-US" sz="15000" dirty="0">
                <a:solidFill>
                  <a:srgbClr val="FF5050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  </a:t>
            </a:r>
            <a:r>
              <a:rPr lang="ko-KR" altLang="en-US" sz="15000" dirty="0" err="1">
                <a:solidFill>
                  <a:srgbClr val="FF5050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엇인</a:t>
            </a:r>
            <a:r>
              <a:rPr lang="ko-KR" altLang="en-US" sz="15000" dirty="0">
                <a:solidFill>
                  <a:srgbClr val="FF5050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  가</a:t>
            </a:r>
            <a:endParaRPr sz="15000" dirty="0">
              <a:solidFill>
                <a:srgbClr val="FF5050"/>
              </a:solidFill>
              <a:latin typeface="210 맨발의청춘 B" panose="02020603020101020101" pitchFamily="18" charset="-127"/>
              <a:ea typeface="210 맨발의청춘 B" panose="02020603020101020101" pitchFamily="18" charset="-127"/>
              <a:cs typeface="Band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8191500"/>
            <a:ext cx="157734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4500" spc="50" dirty="0">
                <a:solidFill>
                  <a:srgbClr val="253532"/>
                </a:solidFill>
                <a:uFill>
                  <a:solidFill>
                    <a:srgbClr val="253432"/>
                  </a:solidFill>
                </a:uFill>
                <a:latin typeface="210 맨발의청춘 L" panose="02020603020101020101" pitchFamily="18" charset="-127"/>
                <a:ea typeface="210 맨발의청춘 L" panose="02020603020101020101" pitchFamily="18" charset="-127"/>
                <a:cs typeface="Noto Sans CJK JP Light"/>
              </a:rPr>
              <a:t>남현석</a:t>
            </a:r>
            <a:endParaRPr sz="45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  <a:cs typeface="Noto Sans CJK JP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00336-30CA-864B-76D9-3736638ED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9A799E4-B70B-D3AC-4DCA-D948841501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1. </a:t>
            </a:r>
            <a:r>
              <a:rPr lang="en-US" altLang="ko-KR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CNN</a:t>
            </a:r>
            <a:r>
              <a:rPr lang="ko-KR" alt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이란</a:t>
            </a:r>
            <a:r>
              <a:rPr lang="en-US" altLang="ko-KR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?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F226E9-A148-CA24-2F70-910571604015}"/>
              </a:ext>
            </a:extLst>
          </p:cNvPr>
          <p:cNvSpPr txBox="1"/>
          <p:nvPr/>
        </p:nvSpPr>
        <p:spPr>
          <a:xfrm>
            <a:off x="7370093" y="8801100"/>
            <a:ext cx="3692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이미지 인식 모델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1026" name="Picture 2" descr="Convolutional Neural Networks (CNNs): AI Image Recognition Process">
            <a:extLst>
              <a:ext uri="{FF2B5EF4-FFF2-40B4-BE49-F238E27FC236}">
                <a16:creationId xmlns:a16="http://schemas.microsoft.com/office/drawing/2014/main" id="{7511DF76-120B-E60B-B26C-FA1E302DB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562" y="2933700"/>
            <a:ext cx="11031099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959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8825-AF97-5623-A68D-53207C87B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FEE26B6-B42D-CB5C-77C4-7F77248F00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1. </a:t>
            </a:r>
            <a:r>
              <a:rPr lang="en-US" altLang="ko-KR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CNN</a:t>
            </a:r>
            <a:r>
              <a:rPr lang="ko-KR" alt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이란</a:t>
            </a:r>
            <a:r>
              <a:rPr lang="en-US" altLang="ko-KR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?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DFDBD-C5C0-6E5C-477C-9020AA670418}"/>
              </a:ext>
            </a:extLst>
          </p:cNvPr>
          <p:cNvSpPr txBox="1"/>
          <p:nvPr/>
        </p:nvSpPr>
        <p:spPr>
          <a:xfrm>
            <a:off x="3557478" y="8877300"/>
            <a:ext cx="113172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(Conv + </a:t>
            </a:r>
            <a:r>
              <a:rPr lang="en-US" altLang="ko-KR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ReLU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+ Pool)*n + Flatten + Linear</a:t>
            </a:r>
          </a:p>
        </p:txBody>
      </p:sp>
      <p:pic>
        <p:nvPicPr>
          <p:cNvPr id="1026" name="Picture 2" descr="Convolutional Neural Networks (CNNs): AI Image Recognition Process">
            <a:extLst>
              <a:ext uri="{FF2B5EF4-FFF2-40B4-BE49-F238E27FC236}">
                <a16:creationId xmlns:a16="http://schemas.microsoft.com/office/drawing/2014/main" id="{F37F1E89-D192-DEC9-C2AA-D4DE0C251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562" y="2933700"/>
            <a:ext cx="11031099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52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7F489-A6E6-2FB4-8D20-9C3EF48FF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7121F4B-A436-91A1-39E1-0E328191FB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1. </a:t>
            </a:r>
            <a:r>
              <a:rPr lang="en-US" altLang="ko-KR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CNN</a:t>
            </a:r>
            <a:r>
              <a:rPr lang="ko-KR" alt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이란</a:t>
            </a:r>
            <a:r>
              <a:rPr lang="en-US" altLang="ko-KR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?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9C337-3A85-99D1-49DD-D401A1DFF1B0}"/>
              </a:ext>
            </a:extLst>
          </p:cNvPr>
          <p:cNvSpPr txBox="1"/>
          <p:nvPr/>
        </p:nvSpPr>
        <p:spPr>
          <a:xfrm>
            <a:off x="3557478" y="8877300"/>
            <a:ext cx="113172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(Conv + </a:t>
            </a:r>
            <a:r>
              <a:rPr lang="en-US" altLang="ko-KR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ReLU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+ Pool)*n + Flatten + Linear</a:t>
            </a:r>
          </a:p>
        </p:txBody>
      </p:sp>
      <p:pic>
        <p:nvPicPr>
          <p:cNvPr id="1026" name="Picture 2" descr="Convolutional Neural Networks (CNNs): AI Image Recognition Process">
            <a:extLst>
              <a:ext uri="{FF2B5EF4-FFF2-40B4-BE49-F238E27FC236}">
                <a16:creationId xmlns:a16="http://schemas.microsoft.com/office/drawing/2014/main" id="{4A723C76-8C32-2F5D-FCB5-A98C4E421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562" y="2933700"/>
            <a:ext cx="11031099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B59D013E-69EC-59A6-61AD-C3061152AA2E}"/>
              </a:ext>
            </a:extLst>
          </p:cNvPr>
          <p:cNvSpPr/>
          <p:nvPr/>
        </p:nvSpPr>
        <p:spPr>
          <a:xfrm>
            <a:off x="10134600" y="8393043"/>
            <a:ext cx="4953000" cy="1676400"/>
          </a:xfrm>
          <a:prstGeom prst="ellipse">
            <a:avLst/>
          </a:prstGeom>
          <a:noFill/>
          <a:ln w="76200"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ACDC-27F9-2267-3F67-03C2EDB2FA36}"/>
              </a:ext>
            </a:extLst>
          </p:cNvPr>
          <p:cNvSpPr txBox="1"/>
          <p:nvPr/>
        </p:nvSpPr>
        <p:spPr>
          <a:xfrm>
            <a:off x="14731661" y="7551890"/>
            <a:ext cx="19046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6000" dirty="0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MLP</a:t>
            </a:r>
          </a:p>
        </p:txBody>
      </p:sp>
    </p:spTree>
    <p:extLst>
      <p:ext uri="{BB962C8B-B14F-4D97-AF65-F5344CB8AC3E}">
        <p14:creationId xmlns:p14="http://schemas.microsoft.com/office/powerpoint/2010/main" val="323664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E16E-FCDC-31FB-C383-87ADB29F8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0CAFC-E19A-6C69-9918-E8A1D47C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089EBD-DE22-3A91-2B83-5F13D18DD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1B99A-9A65-CB14-73BA-D17F3FB0D1CA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323ABE-F91D-4E91-2935-89112D0ACC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8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2050" name="Picture 2" descr="Creating a Multilayer Perceptron (MLP) Classifier Model to Identify  Handwritten Digits | Towards Data Science">
            <a:extLst>
              <a:ext uri="{FF2B5EF4-FFF2-40B4-BE49-F238E27FC236}">
                <a16:creationId xmlns:a16="http://schemas.microsoft.com/office/drawing/2014/main" id="{08FA7462-5F7D-752A-A0B3-515896247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71106"/>
            <a:ext cx="10134600" cy="625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26C728-1399-E083-9267-37A709636E1E}"/>
              </a:ext>
            </a:extLst>
          </p:cNvPr>
          <p:cNvSpPr txBox="1"/>
          <p:nvPr/>
        </p:nvSpPr>
        <p:spPr>
          <a:xfrm>
            <a:off x="4191000" y="6619470"/>
            <a:ext cx="10395795" cy="3458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첫 층 뉴런이 다 </a:t>
            </a:r>
            <a:r>
              <a:rPr lang="ko-KR" altLang="en-US" sz="5000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봐야함</a:t>
            </a:r>
            <a:r>
              <a:rPr lang="ko-KR" altLang="en-US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endParaRPr lang="en-US" altLang="ko-KR" sz="5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	=&gt; </a:t>
            </a:r>
            <a:r>
              <a:rPr lang="ko-KR" altLang="en-US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위치 정보</a:t>
            </a: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</a:t>
            </a:r>
            <a:r>
              <a:rPr lang="ko-KR" altLang="en-US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공간 정보</a:t>
            </a: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 </a:t>
            </a:r>
            <a:r>
              <a:rPr lang="ko-KR" altLang="en-US" sz="5000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약해짐</a:t>
            </a:r>
            <a:endParaRPr lang="en-US" altLang="ko-KR" sz="5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		</a:t>
            </a:r>
            <a:r>
              <a:rPr lang="ko-KR" altLang="en-US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연결이 존</a:t>
            </a: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@</a:t>
            </a:r>
            <a:r>
              <a:rPr lang="ko-KR" altLang="en-US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나 많음</a:t>
            </a:r>
            <a:endParaRPr lang="en-US" altLang="ko-KR" sz="5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0241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A308E-4FC0-EF52-78FD-799C41751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61D114D-6DAD-2725-DE4E-E830665227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1. </a:t>
            </a:r>
            <a:r>
              <a:rPr lang="en-US" altLang="ko-KR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CNN</a:t>
            </a:r>
            <a:r>
              <a:rPr lang="ko-KR" alt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이란</a:t>
            </a:r>
            <a:r>
              <a:rPr lang="en-US" altLang="ko-KR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?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0C9D0B-60DD-B1EC-AEDE-6BF8B2A4A69D}"/>
              </a:ext>
            </a:extLst>
          </p:cNvPr>
          <p:cNvSpPr txBox="1"/>
          <p:nvPr/>
        </p:nvSpPr>
        <p:spPr>
          <a:xfrm>
            <a:off x="2590800" y="8626614"/>
            <a:ext cx="13558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Receptive Field(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수용 영역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):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한 뉴런이 담당하는 시야의 크기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AFDD088-DB22-9BB9-EF15-9F644C083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88" y="2547938"/>
            <a:ext cx="9877425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791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B3CBB-61F8-B177-A95C-6CC2631FD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CE5C474-0658-6D5D-1AB4-954A97B2FC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2. Convolution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170535-CD91-D5F4-D025-CE61C1936F58}"/>
              </a:ext>
            </a:extLst>
          </p:cNvPr>
          <p:cNvSpPr txBox="1"/>
          <p:nvPr/>
        </p:nvSpPr>
        <p:spPr>
          <a:xfrm>
            <a:off x="2590800" y="7962900"/>
            <a:ext cx="126874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Convolution: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이미지가 들어왔을 때 특징을 뽑아내는 과정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6FC87BB-334B-93E1-2916-BA48AFE71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5400" y="2571547"/>
            <a:ext cx="4267200" cy="485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onvolutional Neural Networks (CNNs): AI Image Recognition Process">
            <a:extLst>
              <a:ext uri="{FF2B5EF4-FFF2-40B4-BE49-F238E27FC236}">
                <a16:creationId xmlns:a16="http://schemas.microsoft.com/office/drawing/2014/main" id="{68958AD8-E4E5-37CC-C489-66C8E2D02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06029"/>
            <a:ext cx="11031099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5946CB4-4B53-E1D8-2F1A-B32377D4D18B}"/>
              </a:ext>
            </a:extLst>
          </p:cNvPr>
          <p:cNvSpPr/>
          <p:nvPr/>
        </p:nvSpPr>
        <p:spPr>
          <a:xfrm>
            <a:off x="2667000" y="5295900"/>
            <a:ext cx="1447800" cy="838200"/>
          </a:xfrm>
          <a:prstGeom prst="ellipse">
            <a:avLst/>
          </a:prstGeom>
          <a:noFill/>
          <a:ln w="762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5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54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21C23-0EA9-E809-8AF7-E5A48081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B5623A4-D239-FCF3-C482-33A68AFB22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2. Convolution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A89DF-E973-3F53-E2EF-B715B2079FFE}"/>
              </a:ext>
            </a:extLst>
          </p:cNvPr>
          <p:cNvSpPr txBox="1"/>
          <p:nvPr/>
        </p:nvSpPr>
        <p:spPr>
          <a:xfrm>
            <a:off x="2590800" y="7962900"/>
            <a:ext cx="126874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Convolution: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이미지가 들어왔을 때 특징을 뽑아내는 과정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C3ED277-51AF-1B29-63EE-7E677D878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924" y="2628900"/>
            <a:ext cx="4267200" cy="485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7854C4-E069-2301-D767-EF76606AE8D8}"/>
              </a:ext>
            </a:extLst>
          </p:cNvPr>
          <p:cNvSpPr txBox="1"/>
          <p:nvPr/>
        </p:nvSpPr>
        <p:spPr>
          <a:xfrm>
            <a:off x="4191000" y="8980557"/>
            <a:ext cx="87280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여기서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Convolution filter = </a:t>
            </a:r>
            <a:r>
              <a:rPr lang="en-US" altLang="ko-KR" sz="4000" dirty="0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Kernel</a:t>
            </a:r>
          </a:p>
        </p:txBody>
      </p:sp>
    </p:spTree>
    <p:extLst>
      <p:ext uri="{BB962C8B-B14F-4D97-AF65-F5344CB8AC3E}">
        <p14:creationId xmlns:p14="http://schemas.microsoft.com/office/powerpoint/2010/main" val="3885533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1A68E-AE6A-2280-433C-D3EEDBEEE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E253B-7B1C-03DF-0246-0945249F5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2575-A375-0C29-6120-25E869612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E7F55-0C78-6B0C-E348-81DA705ACE3C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665D7A-4C6C-F2D7-8486-84E5A9B877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8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5C6E2-DD5A-D1A0-0DCF-19A9FCC31011}"/>
              </a:ext>
            </a:extLst>
          </p:cNvPr>
          <p:cNvSpPr txBox="1"/>
          <p:nvPr/>
        </p:nvSpPr>
        <p:spPr>
          <a:xfrm>
            <a:off x="8534400" y="1628619"/>
            <a:ext cx="8401659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[ 0.13  -0.27  0.04</a:t>
            </a:r>
          </a:p>
          <a:p>
            <a:pPr lvl="0"/>
            <a:r>
              <a:rPr lang="en-US" altLang="ko-KR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 0.51   0.08 -0.19</a:t>
            </a:r>
          </a:p>
          <a:p>
            <a:pPr lvl="0"/>
            <a:r>
              <a:rPr lang="en-US" altLang="ko-KR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-0.07   0.22  0.01 ]</a:t>
            </a:r>
          </a:p>
          <a:p>
            <a:pPr lvl="0"/>
            <a:endParaRPr lang="en-US" altLang="ko-KR" sz="6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/>
            <a:r>
              <a:rPr lang="en-US" altLang="ko-KR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=&gt; </a:t>
            </a:r>
            <a:r>
              <a:rPr lang="ko-KR" altLang="en-US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각각 곱해준 뒤 싹 더함</a:t>
            </a:r>
            <a:endParaRPr lang="en-US" altLang="ko-KR" sz="6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/>
            <a:r>
              <a:rPr lang="en-US" altLang="ko-KR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=&gt; </a:t>
            </a:r>
            <a:r>
              <a:rPr lang="ko-KR" altLang="en-US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얘도 역전파로 학습</a:t>
            </a:r>
            <a:endParaRPr lang="en-US" altLang="ko-KR" sz="6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B60455-CB49-FEA8-729E-C62A8D487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019493"/>
            <a:ext cx="4267200" cy="485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F77B42-EF46-C7F8-1E73-FF7F5976B403}"/>
              </a:ext>
            </a:extLst>
          </p:cNvPr>
          <p:cNvSpPr txBox="1"/>
          <p:nvPr/>
        </p:nvSpPr>
        <p:spPr>
          <a:xfrm>
            <a:off x="2819400" y="8237168"/>
            <a:ext cx="130616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6000" dirty="0" err="1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kernel_size</a:t>
            </a:r>
            <a:r>
              <a:rPr lang="en-US" altLang="ko-KR" sz="6000" dirty="0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= 3</a:t>
            </a:r>
            <a:r>
              <a:rPr lang="en-US" altLang="ko-KR" sz="6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en-US" altLang="ko-KR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(3*3 </a:t>
            </a:r>
            <a:r>
              <a:rPr lang="ko-KR" altLang="en-US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사이즈라는 뜻</a:t>
            </a:r>
            <a:r>
              <a:rPr lang="en-US" altLang="ko-KR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894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F4399-0BEF-AA56-B637-BEC06F233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4E64A41-325E-6597-F033-8D7C5FFA7E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2. Convolution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820F1C-DB8E-EA60-291D-79D341EEFA36}"/>
              </a:ext>
            </a:extLst>
          </p:cNvPr>
          <p:cNvSpPr txBox="1"/>
          <p:nvPr/>
        </p:nvSpPr>
        <p:spPr>
          <a:xfrm>
            <a:off x="5334000" y="4610100"/>
            <a:ext cx="127832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kernel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 지나가면서 만들어진 작은 격자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= </a:t>
            </a:r>
            <a:r>
              <a:rPr lang="en-US" altLang="ko-KR" sz="4000" dirty="0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feature map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BF40810-EA38-7B9A-1910-572F8E3C4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112336"/>
            <a:ext cx="4267200" cy="485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DD96E8-FB2C-1FC1-4171-558338FBF510}"/>
              </a:ext>
            </a:extLst>
          </p:cNvPr>
          <p:cNvSpPr txBox="1"/>
          <p:nvPr/>
        </p:nvSpPr>
        <p:spPr>
          <a:xfrm>
            <a:off x="7819932" y="5627757"/>
            <a:ext cx="81345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kernel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하나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-&gt; feature map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하나</a:t>
            </a:r>
            <a:endParaRPr lang="en-US" altLang="ko-KR" sz="4000" dirty="0">
              <a:solidFill>
                <a:srgbClr val="FF7C80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12439A0-170A-F153-EAAE-E0A2CB7BADFF}"/>
              </a:ext>
            </a:extLst>
          </p:cNvPr>
          <p:cNvSpPr/>
          <p:nvPr/>
        </p:nvSpPr>
        <p:spPr>
          <a:xfrm>
            <a:off x="1752600" y="3251618"/>
            <a:ext cx="2667000" cy="1945195"/>
          </a:xfrm>
          <a:prstGeom prst="ellipse">
            <a:avLst/>
          </a:prstGeom>
          <a:noFill/>
          <a:ln w="76200"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934BC-0C50-191D-F37A-B19049601839}"/>
              </a:ext>
            </a:extLst>
          </p:cNvPr>
          <p:cNvSpPr txBox="1"/>
          <p:nvPr/>
        </p:nvSpPr>
        <p:spPr>
          <a:xfrm>
            <a:off x="7714133" y="6645414"/>
            <a:ext cx="83461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kernel 16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개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-&gt; feature map 16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개</a:t>
            </a:r>
            <a:endParaRPr lang="en-US" altLang="ko-KR" sz="4000" dirty="0">
              <a:solidFill>
                <a:srgbClr val="FF7C80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8646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09936-F3DB-7C50-310E-7059D8028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8A0ECB5-83A3-9639-A731-E95724E1E2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2. Convolution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86DED6-E5EC-2189-B4C1-6C0D6401840F}"/>
              </a:ext>
            </a:extLst>
          </p:cNvPr>
          <p:cNvSpPr txBox="1"/>
          <p:nvPr/>
        </p:nvSpPr>
        <p:spPr>
          <a:xfrm>
            <a:off x="6192427" y="8064298"/>
            <a:ext cx="54841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이동하는 칸 수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= </a:t>
            </a:r>
            <a:r>
              <a:rPr lang="en-US" altLang="ko-KR" sz="4000" dirty="0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Stride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791CB20-626B-EF7C-F11F-64E264A56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924" y="2628900"/>
            <a:ext cx="4267200" cy="485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022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7E708-7E6F-1BA5-6506-F32458CB7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B2647D-E938-5B25-6C8C-30228F6F3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2EEDD4-7495-DADD-9ECF-4EAAF2847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8D514-800B-962C-8BE3-12EA190CD38D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EF1492-CB9F-DFB2-09E5-CC1592B7AF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8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02C2DF-3746-1FB5-5E90-D416F56AD0E8}"/>
              </a:ext>
            </a:extLst>
          </p:cNvPr>
          <p:cNvSpPr txBox="1"/>
          <p:nvPr/>
        </p:nvSpPr>
        <p:spPr>
          <a:xfrm>
            <a:off x="2133600" y="8220404"/>
            <a:ext cx="149499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Stride </a:t>
            </a:r>
            <a:r>
              <a:rPr lang="ko-KR" altLang="en-US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↑ </a:t>
            </a:r>
            <a:r>
              <a:rPr lang="en-US" altLang="ko-KR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=&gt; </a:t>
            </a:r>
            <a:r>
              <a:rPr lang="ko-KR" altLang="en-US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세부 정보 ↓</a:t>
            </a:r>
            <a:r>
              <a:rPr lang="en-US" altLang="ko-KR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, </a:t>
            </a:r>
            <a:r>
              <a:rPr lang="ko-KR" altLang="en-US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해상도 감소속도 ↑</a:t>
            </a:r>
            <a:endParaRPr lang="en-US" altLang="ko-KR" sz="6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2CEE5746-0A19-5689-ADF6-3410A9935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984004"/>
            <a:ext cx="9987139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825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C431-91F1-17C2-4F69-C6B7EC25A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757334E-7E77-51D0-02A3-99A53B8F5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2. Convolution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4B45DE-D8D9-416C-4AA1-844BDDF0CA27}"/>
              </a:ext>
            </a:extLst>
          </p:cNvPr>
          <p:cNvSpPr txBox="1"/>
          <p:nvPr/>
        </p:nvSpPr>
        <p:spPr>
          <a:xfrm>
            <a:off x="6172200" y="8626614"/>
            <a:ext cx="61781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샘플 테두리 조절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: </a:t>
            </a:r>
            <a:r>
              <a:rPr lang="en-US" altLang="ko-KR" sz="4000" dirty="0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Padding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98C8839-97C1-72CF-8855-537630422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012671"/>
            <a:ext cx="7732711" cy="5080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20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F810C-01C9-89E2-B542-FB1EC4FE9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3E524-DA8C-520F-3ACD-8FC80240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4F449D-A975-4DBD-8232-E95036861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16E50-B5DB-0034-D811-12D440A59651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6D6C25-3A5B-6D25-2959-291F92071B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8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A2ACB-02B2-76F1-2FFA-297D1C4456F6}"/>
              </a:ext>
            </a:extLst>
          </p:cNvPr>
          <p:cNvSpPr txBox="1"/>
          <p:nvPr/>
        </p:nvSpPr>
        <p:spPr>
          <a:xfrm>
            <a:off x="2895600" y="8250419"/>
            <a:ext cx="131112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Padding</a:t>
            </a:r>
            <a:r>
              <a:rPr lang="ko-KR" altLang="en-US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으로 가장자리도 공평하게 봄</a:t>
            </a:r>
            <a:r>
              <a:rPr lang="en-US" altLang="ko-KR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</a:t>
            </a:r>
          </a:p>
        </p:txBody>
      </p:sp>
      <p:pic>
        <p:nvPicPr>
          <p:cNvPr id="3074" name="Picture 2" descr="Computer Vision - Samuel's Blog">
            <a:extLst>
              <a:ext uri="{FF2B5EF4-FFF2-40B4-BE49-F238E27FC236}">
                <a16:creationId xmlns:a16="http://schemas.microsoft.com/office/drawing/2014/main" id="{44B00F1C-9C30-6BD3-2711-E57E9786BE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7"/>
          <a:stretch>
            <a:fillRect/>
          </a:stretch>
        </p:blipFill>
        <p:spPr bwMode="auto">
          <a:xfrm>
            <a:off x="3810000" y="2621066"/>
            <a:ext cx="10972800" cy="409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798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88380-849D-807A-3672-8F4A207F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C3AE4B-1461-62EB-AEDA-F1F5AC963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99EF05-C7CA-147A-A39F-A86B6114D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ABE0F-609D-16B4-28DD-C607F874386D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738F32-86A6-536E-89B7-043FAF2D97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8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2257F-664E-A419-27F5-6756405BEBF7}"/>
              </a:ext>
            </a:extLst>
          </p:cNvPr>
          <p:cNvSpPr txBox="1"/>
          <p:nvPr/>
        </p:nvSpPr>
        <p:spPr>
          <a:xfrm>
            <a:off x="4599432" y="4778186"/>
            <a:ext cx="80728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en-US" altLang="ko-KR" sz="6000" dirty="0" err="1">
                <a:solidFill>
                  <a:srgbClr val="8000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Padding+Stride</a:t>
            </a:r>
            <a:r>
              <a:rPr lang="en-US" altLang="ko-KR" sz="6000" dirty="0">
                <a:solidFill>
                  <a:srgbClr val="8000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ko-KR" altLang="en-US" sz="6000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en-US" altLang="ko-KR" sz="6000" dirty="0">
              <a:solidFill>
                <a:srgbClr val="FFCC66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2025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FF825-3CD3-B783-D7D5-292F48822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71833E4-0C5B-1E72-C9D1-6C8785DB89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3. Pooling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6E80AF-37B7-071B-283F-4A5C0E28A26E}"/>
              </a:ext>
            </a:extLst>
          </p:cNvPr>
          <p:cNvSpPr txBox="1"/>
          <p:nvPr/>
        </p:nvSpPr>
        <p:spPr>
          <a:xfrm>
            <a:off x="6172200" y="8626614"/>
            <a:ext cx="7947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주요 정보만 남겨서 줄이기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: </a:t>
            </a:r>
            <a:r>
              <a:rPr lang="en-US" altLang="ko-KR" sz="4000" dirty="0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Pooling</a:t>
            </a:r>
          </a:p>
        </p:txBody>
      </p:sp>
      <p:pic>
        <p:nvPicPr>
          <p:cNvPr id="2" name="Picture 2" descr="Convolutional Neural Networks (CNNs): AI Image Recognition Process">
            <a:extLst>
              <a:ext uri="{FF2B5EF4-FFF2-40B4-BE49-F238E27FC236}">
                <a16:creationId xmlns:a16="http://schemas.microsoft.com/office/drawing/2014/main" id="{F96A0B0B-5FD7-D62A-9241-60EF5452A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562" y="2933700"/>
            <a:ext cx="11031099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088E018-D362-0879-E2EC-642D78808966}"/>
              </a:ext>
            </a:extLst>
          </p:cNvPr>
          <p:cNvSpPr/>
          <p:nvPr/>
        </p:nvSpPr>
        <p:spPr>
          <a:xfrm>
            <a:off x="6096000" y="4152900"/>
            <a:ext cx="1295400" cy="990600"/>
          </a:xfrm>
          <a:prstGeom prst="ellipse">
            <a:avLst/>
          </a:prstGeom>
          <a:noFill/>
          <a:ln w="76200"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072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AA37-FC34-CB90-A760-98381AC6C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CE543-9737-A925-1851-B96534365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11A2B9-7953-229A-2B13-76FFDE10C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2C958-E0BD-A38C-F70B-BD16F67455EF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5E7AF4-81E5-E398-1D91-2486F0B0A1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8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60099-4484-61F1-D59A-0B06C7DC5DFC}"/>
              </a:ext>
            </a:extLst>
          </p:cNvPr>
          <p:cNvSpPr txBox="1"/>
          <p:nvPr/>
        </p:nvSpPr>
        <p:spPr>
          <a:xfrm>
            <a:off x="4625546" y="8248633"/>
            <a:ext cx="84273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뭐 </a:t>
            </a:r>
            <a:r>
              <a:rPr lang="ko-KR" altLang="en-US" sz="6000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이런식으로</a:t>
            </a:r>
            <a:r>
              <a:rPr lang="ko-KR" altLang="en-US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계산함 </a:t>
            </a:r>
            <a:r>
              <a:rPr lang="ko-KR" altLang="en-US" sz="6000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ㅇㅇ</a:t>
            </a:r>
            <a:endParaRPr lang="en-US" altLang="ko-KR" sz="6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4098" name="Picture 2" descr="Introduction To Pooling Layers In CNN | Towards AI">
            <a:extLst>
              <a:ext uri="{FF2B5EF4-FFF2-40B4-BE49-F238E27FC236}">
                <a16:creationId xmlns:a16="http://schemas.microsoft.com/office/drawing/2014/main" id="{1D4446F2-277B-A44B-22CC-6FA586BDC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104900"/>
            <a:ext cx="10210800" cy="663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481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8CAE4-4D8A-3163-5B1A-D7150845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E47C27-9B24-9627-A4BD-A978C830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8D27AB-1BD3-797C-9096-98D90AD7B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30B2FB-569F-2E24-53C3-1F9284C50B40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05CBF5-EBBA-A968-7E80-F8EA3F62DB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8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75964-000C-C051-3B6F-DE0E74265980}"/>
              </a:ext>
            </a:extLst>
          </p:cNvPr>
          <p:cNvSpPr txBox="1"/>
          <p:nvPr/>
        </p:nvSpPr>
        <p:spPr>
          <a:xfrm>
            <a:off x="3581400" y="8432276"/>
            <a:ext cx="120276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근데 경험 상 </a:t>
            </a:r>
            <a:r>
              <a:rPr lang="en-US" altLang="ko-KR" sz="6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max pooling</a:t>
            </a:r>
            <a:r>
              <a:rPr lang="ko-KR" altLang="en-US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 좋다</a:t>
            </a:r>
            <a:r>
              <a:rPr lang="en-US" altLang="ko-KR" sz="6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~</a:t>
            </a:r>
          </a:p>
        </p:txBody>
      </p:sp>
      <p:pic>
        <p:nvPicPr>
          <p:cNvPr id="4098" name="Picture 2" descr="Introduction To Pooling Layers In CNN | Towards AI">
            <a:extLst>
              <a:ext uri="{FF2B5EF4-FFF2-40B4-BE49-F238E27FC236}">
                <a16:creationId xmlns:a16="http://schemas.microsoft.com/office/drawing/2014/main" id="{FFE59F47-A4BC-6FEA-06FE-D787AAADC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104900"/>
            <a:ext cx="10210800" cy="663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185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4F6A3-769B-B3E0-6600-538919FD5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254A86-FEFA-6407-8CEB-3F7F75D99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A83600-2214-9272-7E33-F969F71F7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3A110F-AA93-A3D7-A9B7-64D44C439930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C7EED9-EBAE-32A0-9FC0-A58C871B48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8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9E8CC-E4FF-3949-E4CE-CA920B93019D}"/>
              </a:ext>
            </a:extLst>
          </p:cNvPr>
          <p:cNvSpPr txBox="1"/>
          <p:nvPr/>
        </p:nvSpPr>
        <p:spPr>
          <a:xfrm>
            <a:off x="7772400" y="1589219"/>
            <a:ext cx="10221068" cy="80752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※ pooling</a:t>
            </a:r>
            <a:r>
              <a:rPr lang="ko-KR" altLang="en-US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의 효능</a:t>
            </a: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※</a:t>
            </a:r>
          </a:p>
          <a:p>
            <a:pPr lvl="0">
              <a:lnSpc>
                <a:spcPct val="150000"/>
              </a:lnSpc>
            </a:pPr>
            <a:endParaRPr lang="en-US" altLang="ko-KR" sz="5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1. feature map </a:t>
            </a:r>
            <a:r>
              <a:rPr lang="ko-KR" altLang="en-US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크기 감소</a:t>
            </a:r>
            <a:endParaRPr lang="en-US" altLang="ko-KR" sz="5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(</a:t>
            </a:r>
            <a:r>
              <a:rPr lang="ko-KR" altLang="en-US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보통 세로 </a:t>
            </a: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½, </a:t>
            </a:r>
            <a:r>
              <a:rPr lang="ko-KR" altLang="en-US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가로 </a:t>
            </a: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½ -&gt; </a:t>
            </a:r>
            <a:r>
              <a:rPr lang="ko-KR" altLang="en-US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전체 </a:t>
            </a: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¼)</a:t>
            </a:r>
          </a:p>
          <a:p>
            <a:pPr lvl="0">
              <a:lnSpc>
                <a:spcPct val="150000"/>
              </a:lnSpc>
            </a:pP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2. </a:t>
            </a:r>
            <a:r>
              <a:rPr lang="ko-KR" altLang="en-US" sz="5000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계산량</a:t>
            </a:r>
            <a:r>
              <a:rPr lang="ko-KR" altLang="en-US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감소</a:t>
            </a:r>
            <a:endParaRPr lang="en-US" altLang="ko-KR" sz="5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3. </a:t>
            </a:r>
            <a:r>
              <a:rPr lang="ko-KR" altLang="en-US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위치 이동에 강함</a:t>
            </a:r>
            <a:endParaRPr lang="en-US" altLang="ko-KR" sz="5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4. </a:t>
            </a:r>
            <a:r>
              <a:rPr lang="ko-KR" altLang="en-US" sz="5000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과적합</a:t>
            </a:r>
            <a:r>
              <a:rPr lang="ko-KR" altLang="en-US" sz="5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완화</a:t>
            </a:r>
            <a:endParaRPr lang="en-US" altLang="ko-KR" sz="5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5122" name="Picture 2" descr="폼아크릴액자-cd974-폼아크릴액자56CmX78Cm_술의효능">
            <a:extLst>
              <a:ext uri="{FF2B5EF4-FFF2-40B4-BE49-F238E27FC236}">
                <a16:creationId xmlns:a16="http://schemas.microsoft.com/office/drawing/2014/main" id="{1F442B27-5B0C-2298-4A94-EDEB70663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32" y="2366010"/>
            <a:ext cx="6477000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5699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C44FD-0F96-9215-D9AB-F8E70580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20C70-9143-B6A5-639B-BEE86CED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6E8C71-0354-AC54-002B-20F548E0A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FE12F-D64E-ACE6-80A5-7FEDE4D296F0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BD4351-09D9-A794-68B9-B7BD0D5FF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8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4" name="Picture 2" descr="Convolutional Neural Networks (CNNs): AI Image Recognition Process">
            <a:extLst>
              <a:ext uri="{FF2B5EF4-FFF2-40B4-BE49-F238E27FC236}">
                <a16:creationId xmlns:a16="http://schemas.microsoft.com/office/drawing/2014/main" id="{21D61207-2459-3ED1-4200-F07073DC6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562" y="2933700"/>
            <a:ext cx="11031099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161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0664F-67EB-754D-828F-086432402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60454B-B21E-5A60-27E3-8844399DD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F9966-085F-780B-B58D-646FAE3BF43D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09F57C-7E6D-7670-D2F8-F11D4CA8AF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0" b="1" dirty="0" err="1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ㄳ</a:t>
            </a:r>
            <a:endParaRPr lang="ko-KR" altLang="en-US" sz="16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3546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4231</TotalTime>
  <Words>280</Words>
  <Application>Microsoft Office PowerPoint</Application>
  <PresentationFormat>사용자 지정</PresentationFormat>
  <Paragraphs>61</Paragraphs>
  <Slides>21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Calibri</vt:lpstr>
      <vt:lpstr>210 맨발의청춘 R</vt:lpstr>
      <vt:lpstr>맑은 고딕</vt:lpstr>
      <vt:lpstr>Bandal</vt:lpstr>
      <vt:lpstr>210 맨발의청춘 B</vt:lpstr>
      <vt:lpstr>210 맨발의청춘 L</vt:lpstr>
      <vt:lpstr>Arial</vt:lpstr>
      <vt:lpstr>Office Theme</vt:lpstr>
      <vt:lpstr>PowerPoint 프레젠테이션</vt:lpstr>
      <vt:lpstr>1. CNN이란?</vt:lpstr>
      <vt:lpstr>1. CNN이란?</vt:lpstr>
      <vt:lpstr>1. CNN이란?</vt:lpstr>
      <vt:lpstr>PowerPoint 프레젠테이션</vt:lpstr>
      <vt:lpstr>1. CNN이란?</vt:lpstr>
      <vt:lpstr>2. Convolution</vt:lpstr>
      <vt:lpstr>2. Convolution</vt:lpstr>
      <vt:lpstr>PowerPoint 프레젠테이션</vt:lpstr>
      <vt:lpstr>2. Convolution</vt:lpstr>
      <vt:lpstr>2. Convolution</vt:lpstr>
      <vt:lpstr>PowerPoint 프레젠테이션</vt:lpstr>
      <vt:lpstr>2. Convolution</vt:lpstr>
      <vt:lpstr>PowerPoint 프레젠테이션</vt:lpstr>
      <vt:lpstr>PowerPoint 프레젠테이션</vt:lpstr>
      <vt:lpstr>3. Pooling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남현석</dc:creator>
  <cp:lastModifiedBy>남현석</cp:lastModifiedBy>
  <cp:revision>20</cp:revision>
  <dcterms:created xsi:type="dcterms:W3CDTF">2022-05-30T13:19:20Z</dcterms:created>
  <dcterms:modified xsi:type="dcterms:W3CDTF">2026-01-08T03:39:27Z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2022-05-30T00:00:00Z</vt:filetime>
  </property>
</Properties>
</file>